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70" r:id="rId7"/>
    <p:sldId id="263" r:id="rId8"/>
    <p:sldId id="264" r:id="rId9"/>
    <p:sldId id="265" r:id="rId10"/>
    <p:sldId id="266" r:id="rId11"/>
    <p:sldId id="271" r:id="rId12"/>
    <p:sldId id="267" r:id="rId13"/>
    <p:sldId id="268" r:id="rId14"/>
    <p:sldId id="269" r:id="rId15"/>
  </p:sldIdLst>
  <p:sldSz cx="20104100" cy="11258550"/>
  <p:notesSz cx="20104100" cy="1125855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CB3E"/>
    <a:srgbClr val="FFE32C"/>
    <a:srgbClr val="7BB7E5"/>
    <a:srgbClr val="DE5528"/>
    <a:srgbClr val="102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0" autoAdjust="0"/>
    <p:restoredTop sz="83473"/>
  </p:normalViewPr>
  <p:slideViewPr>
    <p:cSldViewPr>
      <p:cViewPr varScale="1">
        <p:scale>
          <a:sx n="47" d="100"/>
          <a:sy n="47" d="100"/>
        </p:scale>
        <p:origin x="1136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61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32CCA1-4475-43BB-8E25-41D5FBD7FEC8}" type="datetimeFigureOut">
              <a:rPr lang="de-AT" smtClean="0"/>
              <a:t>09.06.2026</a:t>
            </a:fld>
            <a:endParaRPr lang="de-AT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08113"/>
            <a:ext cx="6784975" cy="3798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2009775" y="5418138"/>
            <a:ext cx="16084550" cy="44338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11387138" y="10693400"/>
            <a:ext cx="8712200" cy="5651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D3D4C-C2CF-4F6C-98A3-FF8A645ED3C3}" type="slidenum">
              <a:rPr lang="de-AT" smtClean="0"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2400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svg"/><Relationship Id="rId1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svg"/><Relationship Id="rId18" Type="http://schemas.openxmlformats.org/officeDocument/2006/relationships/image" Target="../media/image36.svg"/><Relationship Id="rId26" Type="http://schemas.openxmlformats.org/officeDocument/2006/relationships/image" Target="../media/image44.svg"/><Relationship Id="rId39" Type="http://schemas.openxmlformats.org/officeDocument/2006/relationships/image" Target="../media/image57.svg"/><Relationship Id="rId21" Type="http://schemas.openxmlformats.org/officeDocument/2006/relationships/image" Target="../media/image39.svg"/><Relationship Id="rId34" Type="http://schemas.openxmlformats.org/officeDocument/2006/relationships/image" Target="../media/image52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35.svg"/><Relationship Id="rId25" Type="http://schemas.openxmlformats.org/officeDocument/2006/relationships/image" Target="../media/image43.svg"/><Relationship Id="rId33" Type="http://schemas.openxmlformats.org/officeDocument/2006/relationships/image" Target="../media/image51.svg"/><Relationship Id="rId38" Type="http://schemas.openxmlformats.org/officeDocument/2006/relationships/image" Target="../media/image56.svg"/><Relationship Id="rId2" Type="http://schemas.openxmlformats.org/officeDocument/2006/relationships/image" Target="../media/image20.svg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29" Type="http://schemas.openxmlformats.org/officeDocument/2006/relationships/image" Target="../media/image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24" Type="http://schemas.openxmlformats.org/officeDocument/2006/relationships/image" Target="../media/image42.svg"/><Relationship Id="rId32" Type="http://schemas.openxmlformats.org/officeDocument/2006/relationships/image" Target="../media/image50.svg"/><Relationship Id="rId37" Type="http://schemas.openxmlformats.org/officeDocument/2006/relationships/image" Target="../media/image55.svg"/><Relationship Id="rId40" Type="http://schemas.openxmlformats.org/officeDocument/2006/relationships/image" Target="../media/image58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28" Type="http://schemas.openxmlformats.org/officeDocument/2006/relationships/image" Target="../media/image46.svg"/><Relationship Id="rId36" Type="http://schemas.openxmlformats.org/officeDocument/2006/relationships/image" Target="../media/image54.svg"/><Relationship Id="rId10" Type="http://schemas.openxmlformats.org/officeDocument/2006/relationships/image" Target="../media/image28.svg"/><Relationship Id="rId19" Type="http://schemas.openxmlformats.org/officeDocument/2006/relationships/image" Target="../media/image37.svg"/><Relationship Id="rId31" Type="http://schemas.openxmlformats.org/officeDocument/2006/relationships/image" Target="../media/image49.sv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svg"/><Relationship Id="rId22" Type="http://schemas.openxmlformats.org/officeDocument/2006/relationships/image" Target="../media/image40.svg"/><Relationship Id="rId27" Type="http://schemas.openxmlformats.org/officeDocument/2006/relationships/image" Target="../media/image45.svg"/><Relationship Id="rId30" Type="http://schemas.openxmlformats.org/officeDocument/2006/relationships/image" Target="../media/image48.svg"/><Relationship Id="rId35" Type="http://schemas.openxmlformats.org/officeDocument/2006/relationships/image" Target="../media/image53.svg"/><Relationship Id="rId8" Type="http://schemas.openxmlformats.org/officeDocument/2006/relationships/image" Target="../media/image26.svg"/><Relationship Id="rId3" Type="http://schemas.openxmlformats.org/officeDocument/2006/relationships/image" Target="../media/image21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70.svg"/><Relationship Id="rId18" Type="http://schemas.openxmlformats.org/officeDocument/2006/relationships/image" Target="../media/image75.svg"/><Relationship Id="rId26" Type="http://schemas.openxmlformats.org/officeDocument/2006/relationships/image" Target="../media/image83.svg"/><Relationship Id="rId3" Type="http://schemas.openxmlformats.org/officeDocument/2006/relationships/image" Target="../media/image60.svg"/><Relationship Id="rId21" Type="http://schemas.openxmlformats.org/officeDocument/2006/relationships/image" Target="../media/image78.svg"/><Relationship Id="rId7" Type="http://schemas.openxmlformats.org/officeDocument/2006/relationships/image" Target="../media/image64.svg"/><Relationship Id="rId12" Type="http://schemas.openxmlformats.org/officeDocument/2006/relationships/image" Target="../media/image69.svg"/><Relationship Id="rId17" Type="http://schemas.openxmlformats.org/officeDocument/2006/relationships/image" Target="../media/image74.svg"/><Relationship Id="rId25" Type="http://schemas.openxmlformats.org/officeDocument/2006/relationships/image" Target="../media/image82.svg"/><Relationship Id="rId2" Type="http://schemas.openxmlformats.org/officeDocument/2006/relationships/image" Target="../media/image59.svg"/><Relationship Id="rId16" Type="http://schemas.openxmlformats.org/officeDocument/2006/relationships/image" Target="../media/image73.svg"/><Relationship Id="rId20" Type="http://schemas.openxmlformats.org/officeDocument/2006/relationships/image" Target="../media/image77.svg"/><Relationship Id="rId29" Type="http://schemas.openxmlformats.org/officeDocument/2006/relationships/image" Target="../media/image8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3.svg"/><Relationship Id="rId11" Type="http://schemas.openxmlformats.org/officeDocument/2006/relationships/image" Target="../media/image68.svg"/><Relationship Id="rId24" Type="http://schemas.openxmlformats.org/officeDocument/2006/relationships/image" Target="../media/image81.svg"/><Relationship Id="rId32" Type="http://schemas.openxmlformats.org/officeDocument/2006/relationships/image" Target="../media/image33.svg"/><Relationship Id="rId5" Type="http://schemas.openxmlformats.org/officeDocument/2006/relationships/image" Target="../media/image62.svg"/><Relationship Id="rId15" Type="http://schemas.openxmlformats.org/officeDocument/2006/relationships/image" Target="../media/image72.svg"/><Relationship Id="rId23" Type="http://schemas.openxmlformats.org/officeDocument/2006/relationships/image" Target="../media/image80.svg"/><Relationship Id="rId28" Type="http://schemas.openxmlformats.org/officeDocument/2006/relationships/image" Target="../media/image85.svg"/><Relationship Id="rId10" Type="http://schemas.openxmlformats.org/officeDocument/2006/relationships/image" Target="../media/image67.svg"/><Relationship Id="rId19" Type="http://schemas.openxmlformats.org/officeDocument/2006/relationships/image" Target="../media/image76.svg"/><Relationship Id="rId31" Type="http://schemas.openxmlformats.org/officeDocument/2006/relationships/image" Target="../media/image88.svg"/><Relationship Id="rId4" Type="http://schemas.openxmlformats.org/officeDocument/2006/relationships/image" Target="../media/image61.svg"/><Relationship Id="rId9" Type="http://schemas.openxmlformats.org/officeDocument/2006/relationships/image" Target="../media/image66.svg"/><Relationship Id="rId14" Type="http://schemas.openxmlformats.org/officeDocument/2006/relationships/image" Target="../media/image71.svg"/><Relationship Id="rId22" Type="http://schemas.openxmlformats.org/officeDocument/2006/relationships/image" Target="../media/image79.svg"/><Relationship Id="rId27" Type="http://schemas.openxmlformats.org/officeDocument/2006/relationships/image" Target="../media/image84.svg"/><Relationship Id="rId30" Type="http://schemas.openxmlformats.org/officeDocument/2006/relationships/image" Target="../media/image87.svg"/></Relationships>
</file>

<file path=ppt/slideLayouts/_rels/slideLayout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svg"/><Relationship Id="rId18" Type="http://schemas.openxmlformats.org/officeDocument/2006/relationships/image" Target="../media/image105.svg"/><Relationship Id="rId26" Type="http://schemas.openxmlformats.org/officeDocument/2006/relationships/image" Target="../media/image113.svg"/><Relationship Id="rId39" Type="http://schemas.openxmlformats.org/officeDocument/2006/relationships/image" Target="../media/image126.svg"/><Relationship Id="rId21" Type="http://schemas.openxmlformats.org/officeDocument/2006/relationships/image" Target="../media/image108.svg"/><Relationship Id="rId34" Type="http://schemas.openxmlformats.org/officeDocument/2006/relationships/image" Target="../media/image121.svg"/><Relationship Id="rId42" Type="http://schemas.openxmlformats.org/officeDocument/2006/relationships/image" Target="../media/image129.svg"/><Relationship Id="rId47" Type="http://schemas.openxmlformats.org/officeDocument/2006/relationships/image" Target="../media/image134.svg"/><Relationship Id="rId50" Type="http://schemas.openxmlformats.org/officeDocument/2006/relationships/image" Target="../media/image137.svg"/><Relationship Id="rId55" Type="http://schemas.openxmlformats.org/officeDocument/2006/relationships/image" Target="../media/image142.svg"/><Relationship Id="rId7" Type="http://schemas.openxmlformats.org/officeDocument/2006/relationships/image" Target="../media/image94.svg"/><Relationship Id="rId2" Type="http://schemas.openxmlformats.org/officeDocument/2006/relationships/image" Target="../media/image89.svg"/><Relationship Id="rId16" Type="http://schemas.openxmlformats.org/officeDocument/2006/relationships/image" Target="../media/image103.svg"/><Relationship Id="rId29" Type="http://schemas.openxmlformats.org/officeDocument/2006/relationships/image" Target="../media/image116.svg"/><Relationship Id="rId11" Type="http://schemas.openxmlformats.org/officeDocument/2006/relationships/image" Target="../media/image98.svg"/><Relationship Id="rId24" Type="http://schemas.openxmlformats.org/officeDocument/2006/relationships/image" Target="../media/image111.svg"/><Relationship Id="rId32" Type="http://schemas.openxmlformats.org/officeDocument/2006/relationships/image" Target="../media/image119.svg"/><Relationship Id="rId37" Type="http://schemas.openxmlformats.org/officeDocument/2006/relationships/image" Target="../media/image124.svg"/><Relationship Id="rId40" Type="http://schemas.openxmlformats.org/officeDocument/2006/relationships/image" Target="../media/image127.svg"/><Relationship Id="rId45" Type="http://schemas.openxmlformats.org/officeDocument/2006/relationships/image" Target="../media/image132.svg"/><Relationship Id="rId53" Type="http://schemas.openxmlformats.org/officeDocument/2006/relationships/image" Target="../media/image140.svg"/><Relationship Id="rId58" Type="http://schemas.openxmlformats.org/officeDocument/2006/relationships/image" Target="../media/image145.svg"/><Relationship Id="rId5" Type="http://schemas.openxmlformats.org/officeDocument/2006/relationships/image" Target="../media/image92.svg"/><Relationship Id="rId19" Type="http://schemas.openxmlformats.org/officeDocument/2006/relationships/image" Target="../media/image106.svg"/><Relationship Id="rId4" Type="http://schemas.openxmlformats.org/officeDocument/2006/relationships/image" Target="../media/image91.svg"/><Relationship Id="rId9" Type="http://schemas.openxmlformats.org/officeDocument/2006/relationships/image" Target="../media/image96.svg"/><Relationship Id="rId14" Type="http://schemas.openxmlformats.org/officeDocument/2006/relationships/image" Target="../media/image101.svg"/><Relationship Id="rId22" Type="http://schemas.openxmlformats.org/officeDocument/2006/relationships/image" Target="../media/image109.svg"/><Relationship Id="rId27" Type="http://schemas.openxmlformats.org/officeDocument/2006/relationships/image" Target="../media/image114.svg"/><Relationship Id="rId30" Type="http://schemas.openxmlformats.org/officeDocument/2006/relationships/image" Target="../media/image117.svg"/><Relationship Id="rId35" Type="http://schemas.openxmlformats.org/officeDocument/2006/relationships/image" Target="../media/image122.svg"/><Relationship Id="rId43" Type="http://schemas.openxmlformats.org/officeDocument/2006/relationships/image" Target="../media/image130.svg"/><Relationship Id="rId48" Type="http://schemas.openxmlformats.org/officeDocument/2006/relationships/image" Target="../media/image135.svg"/><Relationship Id="rId56" Type="http://schemas.openxmlformats.org/officeDocument/2006/relationships/image" Target="../media/image143.svg"/><Relationship Id="rId8" Type="http://schemas.openxmlformats.org/officeDocument/2006/relationships/image" Target="../media/image95.svg"/><Relationship Id="rId51" Type="http://schemas.openxmlformats.org/officeDocument/2006/relationships/image" Target="../media/image138.svg"/><Relationship Id="rId3" Type="http://schemas.openxmlformats.org/officeDocument/2006/relationships/image" Target="../media/image90.svg"/><Relationship Id="rId12" Type="http://schemas.openxmlformats.org/officeDocument/2006/relationships/image" Target="../media/image99.svg"/><Relationship Id="rId17" Type="http://schemas.openxmlformats.org/officeDocument/2006/relationships/image" Target="../media/image104.svg"/><Relationship Id="rId25" Type="http://schemas.openxmlformats.org/officeDocument/2006/relationships/image" Target="../media/image112.svg"/><Relationship Id="rId33" Type="http://schemas.openxmlformats.org/officeDocument/2006/relationships/image" Target="../media/image120.svg"/><Relationship Id="rId38" Type="http://schemas.openxmlformats.org/officeDocument/2006/relationships/image" Target="../media/image125.svg"/><Relationship Id="rId46" Type="http://schemas.openxmlformats.org/officeDocument/2006/relationships/image" Target="../media/image133.svg"/><Relationship Id="rId59" Type="http://schemas.openxmlformats.org/officeDocument/2006/relationships/image" Target="../media/image146.svg"/><Relationship Id="rId20" Type="http://schemas.openxmlformats.org/officeDocument/2006/relationships/image" Target="../media/image107.svg"/><Relationship Id="rId41" Type="http://schemas.openxmlformats.org/officeDocument/2006/relationships/image" Target="../media/image128.svg"/><Relationship Id="rId54" Type="http://schemas.openxmlformats.org/officeDocument/2006/relationships/image" Target="../media/image14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3.svg"/><Relationship Id="rId15" Type="http://schemas.openxmlformats.org/officeDocument/2006/relationships/image" Target="../media/image102.svg"/><Relationship Id="rId23" Type="http://schemas.openxmlformats.org/officeDocument/2006/relationships/image" Target="../media/image110.svg"/><Relationship Id="rId28" Type="http://schemas.openxmlformats.org/officeDocument/2006/relationships/image" Target="../media/image115.svg"/><Relationship Id="rId36" Type="http://schemas.openxmlformats.org/officeDocument/2006/relationships/image" Target="../media/image123.svg"/><Relationship Id="rId49" Type="http://schemas.openxmlformats.org/officeDocument/2006/relationships/image" Target="../media/image136.svg"/><Relationship Id="rId57" Type="http://schemas.openxmlformats.org/officeDocument/2006/relationships/image" Target="../media/image144.svg"/><Relationship Id="rId10" Type="http://schemas.openxmlformats.org/officeDocument/2006/relationships/image" Target="../media/image97.svg"/><Relationship Id="rId31" Type="http://schemas.openxmlformats.org/officeDocument/2006/relationships/image" Target="../media/image118.svg"/><Relationship Id="rId44" Type="http://schemas.openxmlformats.org/officeDocument/2006/relationships/image" Target="../media/image131.svg"/><Relationship Id="rId52" Type="http://schemas.openxmlformats.org/officeDocument/2006/relationships/image" Target="../media/image139.svg"/><Relationship Id="rId60" Type="http://schemas.openxmlformats.org/officeDocument/2006/relationships/image" Target="../media/image147.svg"/></Relationships>
</file>

<file path=ppt/slideLayouts/_rels/slideLayout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9.svg"/><Relationship Id="rId18" Type="http://schemas.openxmlformats.org/officeDocument/2006/relationships/image" Target="../media/image164.svg"/><Relationship Id="rId26" Type="http://schemas.openxmlformats.org/officeDocument/2006/relationships/image" Target="../media/image172.svg"/><Relationship Id="rId21" Type="http://schemas.openxmlformats.org/officeDocument/2006/relationships/image" Target="../media/image167.svg"/><Relationship Id="rId34" Type="http://schemas.openxmlformats.org/officeDocument/2006/relationships/image" Target="../media/image180.svg"/><Relationship Id="rId7" Type="http://schemas.openxmlformats.org/officeDocument/2006/relationships/image" Target="../media/image153.svg"/><Relationship Id="rId12" Type="http://schemas.openxmlformats.org/officeDocument/2006/relationships/image" Target="../media/image158.svg"/><Relationship Id="rId17" Type="http://schemas.openxmlformats.org/officeDocument/2006/relationships/image" Target="../media/image163.svg"/><Relationship Id="rId25" Type="http://schemas.openxmlformats.org/officeDocument/2006/relationships/image" Target="../media/image171.svg"/><Relationship Id="rId33" Type="http://schemas.openxmlformats.org/officeDocument/2006/relationships/image" Target="../media/image179.svg"/><Relationship Id="rId2" Type="http://schemas.openxmlformats.org/officeDocument/2006/relationships/image" Target="../media/image148.svg"/><Relationship Id="rId16" Type="http://schemas.openxmlformats.org/officeDocument/2006/relationships/image" Target="../media/image162.svg"/><Relationship Id="rId20" Type="http://schemas.openxmlformats.org/officeDocument/2006/relationships/image" Target="../media/image166.svg"/><Relationship Id="rId29" Type="http://schemas.openxmlformats.org/officeDocument/2006/relationships/image" Target="../media/image17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2.svg"/><Relationship Id="rId11" Type="http://schemas.openxmlformats.org/officeDocument/2006/relationships/image" Target="../media/image157.svg"/><Relationship Id="rId24" Type="http://schemas.openxmlformats.org/officeDocument/2006/relationships/image" Target="../media/image170.svg"/><Relationship Id="rId32" Type="http://schemas.openxmlformats.org/officeDocument/2006/relationships/image" Target="../media/image178.svg"/><Relationship Id="rId37" Type="http://schemas.openxmlformats.org/officeDocument/2006/relationships/image" Target="../media/image183.svg"/><Relationship Id="rId5" Type="http://schemas.openxmlformats.org/officeDocument/2006/relationships/image" Target="../media/image151.svg"/><Relationship Id="rId15" Type="http://schemas.openxmlformats.org/officeDocument/2006/relationships/image" Target="../media/image161.svg"/><Relationship Id="rId23" Type="http://schemas.openxmlformats.org/officeDocument/2006/relationships/image" Target="../media/image169.svg"/><Relationship Id="rId28" Type="http://schemas.openxmlformats.org/officeDocument/2006/relationships/image" Target="../media/image174.svg"/><Relationship Id="rId36" Type="http://schemas.openxmlformats.org/officeDocument/2006/relationships/image" Target="../media/image182.svg"/><Relationship Id="rId10" Type="http://schemas.openxmlformats.org/officeDocument/2006/relationships/image" Target="../media/image156.svg"/><Relationship Id="rId19" Type="http://schemas.openxmlformats.org/officeDocument/2006/relationships/image" Target="../media/image165.svg"/><Relationship Id="rId31" Type="http://schemas.openxmlformats.org/officeDocument/2006/relationships/image" Target="../media/image177.svg"/><Relationship Id="rId4" Type="http://schemas.openxmlformats.org/officeDocument/2006/relationships/image" Target="../media/image150.svg"/><Relationship Id="rId9" Type="http://schemas.openxmlformats.org/officeDocument/2006/relationships/image" Target="../media/image155.svg"/><Relationship Id="rId14" Type="http://schemas.openxmlformats.org/officeDocument/2006/relationships/image" Target="../media/image160.svg"/><Relationship Id="rId22" Type="http://schemas.openxmlformats.org/officeDocument/2006/relationships/image" Target="../media/image168.svg"/><Relationship Id="rId27" Type="http://schemas.openxmlformats.org/officeDocument/2006/relationships/image" Target="../media/image173.svg"/><Relationship Id="rId30" Type="http://schemas.openxmlformats.org/officeDocument/2006/relationships/image" Target="../media/image176.svg"/><Relationship Id="rId35" Type="http://schemas.openxmlformats.org/officeDocument/2006/relationships/image" Target="../media/image181.svg"/><Relationship Id="rId8" Type="http://schemas.openxmlformats.org/officeDocument/2006/relationships/image" Target="../media/image154.svg"/><Relationship Id="rId3" Type="http://schemas.openxmlformats.org/officeDocument/2006/relationships/image" Target="../media/image14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6651" y="3571875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TITEL DER PRÄSENTATION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F0FF1A4-E5E8-E342-E9AA-1F2E73A3F3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0925" y="8351775"/>
            <a:ext cx="17400038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Optionaler Zusatztext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4" name="Textplatzhalter 3">
            <a:extLst>
              <a:ext uri="{FF2B5EF4-FFF2-40B4-BE49-F238E27FC236}">
                <a16:creationId xmlns:a16="http://schemas.microsoft.com/office/drawing/2014/main" id="{D9089E71-C91B-439A-7E0D-91F767E1517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36651" y="5172075"/>
            <a:ext cx="17297399" cy="914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 dirty="0"/>
              <a:t>Unterüberschrift der Präsentation</a:t>
            </a:r>
          </a:p>
        </p:txBody>
      </p:sp>
    </p:spTree>
    <p:extLst>
      <p:ext uri="{BB962C8B-B14F-4D97-AF65-F5344CB8AC3E}">
        <p14:creationId xmlns:p14="http://schemas.microsoft.com/office/powerpoint/2010/main" val="4185386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66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6" y="4837187"/>
            <a:ext cx="17145000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NEUER ABSCHNITT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1432700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6" userDrawn="1">
          <p15:clr>
            <a:srgbClr val="FBAE40"/>
          </p15:clr>
        </p15:guide>
        <p15:guide id="2" pos="70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lang="de-AT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de-AT" smtClean="0"/>
              <a:pPr/>
              <a:t>‹#›</a:t>
            </a:fld>
            <a:endParaRPr lang="de-AT"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2EF2888-4A07-6822-BC58-48DE52390A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4887" y="2460625"/>
            <a:ext cx="18119725" cy="75612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28395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1109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540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lang="de-AT" sz="3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0353612" y="2461048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>
              <a:defRPr lang="de-AT" sz="2400" b="0" i="0" dirty="0" smtClean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5A4E626C-BF99-D1AE-62AC-17343085F7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011DEACC-F6F4-21EE-1331-99FFB0B984A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1D0ACAC1-6EB0-E7AD-2919-FF7A7102050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F818B0CB-0C5B-0006-441C-6577F0AB69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857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latinLnBrk="1"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 latinLnBrk="1">
              <a:defRPr sz="2800">
                <a:solidFill>
                  <a:schemeClr val="bg1"/>
                </a:solidFill>
              </a:defRPr>
            </a:lvl2pPr>
            <a:lvl3pPr latinLnBrk="1">
              <a:defRPr sz="2400">
                <a:solidFill>
                  <a:schemeClr val="bg1"/>
                </a:solidFill>
              </a:defRPr>
            </a:lvl3pPr>
            <a:lvl4pPr latinLnBrk="1"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8388E846-214F-2171-C9A3-B99231BFA0C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43660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Helvetica" pitchFamily="2" charset="0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AT" dirty="0"/>
          </a:p>
          <a:p>
            <a:endParaRPr lang="de-AT" dirty="0"/>
          </a:p>
          <a:p>
            <a:endParaRPr dirty="0"/>
          </a:p>
        </p:txBody>
      </p:sp>
      <p:sp>
        <p:nvSpPr>
          <p:cNvPr id="16" name="Holder 3">
            <a:extLst>
              <a:ext uri="{FF2B5EF4-FFF2-40B4-BE49-F238E27FC236}">
                <a16:creationId xmlns:a16="http://schemas.microsoft.com/office/drawing/2014/main" id="{4648E570-02A9-8D1A-9A99-C60139E9D72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222672" y="2461048"/>
            <a:ext cx="5688012" cy="7560840"/>
          </a:xfrm>
          <a:prstGeom prst="rect">
            <a:avLst/>
          </a:prstGeom>
        </p:spPr>
        <p:txBody>
          <a:bodyPr lIns="0" tIns="0" rIns="0" bIns="0"/>
          <a:lstStyle>
            <a:lvl1pPr marL="0" marR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4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lang="de-AT" sz="28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>
              <a:defRPr lang="de-AT" sz="24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defRPr lang="de-AT" sz="20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17" name="Holder 2">
            <a:extLst>
              <a:ext uri="{FF2B5EF4-FFF2-40B4-BE49-F238E27FC236}">
                <a16:creationId xmlns:a16="http://schemas.microsoft.com/office/drawing/2014/main" id="{4D754149-893F-CAB9-A3E1-DC7D169E40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8" name="Holder 3">
            <a:extLst>
              <a:ext uri="{FF2B5EF4-FFF2-40B4-BE49-F238E27FC236}">
                <a16:creationId xmlns:a16="http://schemas.microsoft.com/office/drawing/2014/main" id="{558E528A-5EF9-0AAB-C345-0B6BB9D44AE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9" name="Holder 4">
            <a:extLst>
              <a:ext uri="{FF2B5EF4-FFF2-40B4-BE49-F238E27FC236}">
                <a16:creationId xmlns:a16="http://schemas.microsoft.com/office/drawing/2014/main" id="{A7C16352-0FD5-B157-DF83-E05420BE531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Holder 5">
            <a:extLst>
              <a:ext uri="{FF2B5EF4-FFF2-40B4-BE49-F238E27FC236}">
                <a16:creationId xmlns:a16="http://schemas.microsoft.com/office/drawing/2014/main" id="{224E43AC-533A-4DCA-92E4-C9EF34B711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8959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  <p15:guide id="6" pos="4200">
          <p15:clr>
            <a:srgbClr val="FBAE40"/>
          </p15:clr>
        </p15:guide>
        <p15:guide id="7" pos="8464">
          <p15:clr>
            <a:srgbClr val="FBAE40"/>
          </p15:clr>
        </p15:guide>
        <p15:guide id="8" pos="4563">
          <p15:clr>
            <a:srgbClr val="FBAE40"/>
          </p15:clr>
        </p15:guide>
        <p15:guide id="9" pos="81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Content + Multimed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75838" y="2460625"/>
            <a:ext cx="8745283" cy="7559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7BD07759-07E2-6A86-C140-93129BD1B95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8771002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  <a:latin typeface="Helvetica" pitchFamily="2" charset="0"/>
              </a:defRPr>
            </a:lvl3pPr>
            <a:lvl4pPr>
              <a:defRPr sz="2000">
                <a:solidFill>
                  <a:schemeClr val="bg1"/>
                </a:solidFill>
                <a:latin typeface="Helvetica" pitchFamily="2" charset="0"/>
              </a:defRPr>
            </a:lvl4pPr>
          </a:lstStyle>
          <a:p>
            <a:r>
              <a:rPr lang="de-AT" dirty="0"/>
              <a:t>Text hinzufügen</a:t>
            </a:r>
          </a:p>
        </p:txBody>
      </p:sp>
      <p:sp>
        <p:nvSpPr>
          <p:cNvPr id="9" name="Holder 2">
            <a:extLst>
              <a:ext uri="{FF2B5EF4-FFF2-40B4-BE49-F238E27FC236}">
                <a16:creationId xmlns:a16="http://schemas.microsoft.com/office/drawing/2014/main" id="{7ADF31C3-4247-255E-4FFE-E58A91AA20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  <p:sp>
        <p:nvSpPr>
          <p:cNvPr id="10" name="Holder 3">
            <a:extLst>
              <a:ext uri="{FF2B5EF4-FFF2-40B4-BE49-F238E27FC236}">
                <a16:creationId xmlns:a16="http://schemas.microsoft.com/office/drawing/2014/main" id="{6C09CE1C-E5B2-EB7B-852A-0D5A9F2B0F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11" name="Holder 4">
            <a:extLst>
              <a:ext uri="{FF2B5EF4-FFF2-40B4-BE49-F238E27FC236}">
                <a16:creationId xmlns:a16="http://schemas.microsoft.com/office/drawing/2014/main" id="{A9DAC673-B748-8FFD-B922-3513C00E6153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Holder 5">
            <a:extLst>
              <a:ext uri="{FF2B5EF4-FFF2-40B4-BE49-F238E27FC236}">
                <a16:creationId xmlns:a16="http://schemas.microsoft.com/office/drawing/2014/main" id="{8A989426-AEA5-BBC3-B901-36B0834105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1246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1550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DD67BA82-50DF-860B-4DAB-6199A3610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Titel hinzufügen (optional 2 zeilig)</a:t>
            </a:r>
            <a:br>
              <a:rPr lang="de-AT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6467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7">
          <p15:clr>
            <a:srgbClr val="FBAE40"/>
          </p15:clr>
        </p15:guide>
        <p15:guide id="2" pos="12047">
          <p15:clr>
            <a:srgbClr val="FBAE40"/>
          </p15:clr>
        </p15:guide>
        <p15:guide id="3" orient="horz" pos="870">
          <p15:clr>
            <a:srgbClr val="FBAE40"/>
          </p15:clr>
        </p15:guide>
        <p15:guide id="4" orient="horz" pos="1550">
          <p15:clr>
            <a:srgbClr val="FBAE40"/>
          </p15:clr>
        </p15:guide>
        <p15:guide id="5" orient="horz" pos="6313">
          <p15:clr>
            <a:srgbClr val="FBAE40"/>
          </p15:clr>
        </p15:guide>
        <p15:guide id="6" pos="3293" userDrawn="1">
          <p15:clr>
            <a:srgbClr val="FBAE40"/>
          </p15:clr>
        </p15:guide>
        <p15:guide id="7" pos="937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3">
            <a:extLst>
              <a:ext uri="{FF2B5EF4-FFF2-40B4-BE49-F238E27FC236}">
                <a16:creationId xmlns:a16="http://schemas.microsoft.com/office/drawing/2014/main" id="{D8A3C0C5-ED4F-557D-11EF-74B4301194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16D0F147-E9CE-56AA-024D-C2F3D44AD3BF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Holder 5">
            <a:extLst>
              <a:ext uri="{FF2B5EF4-FFF2-40B4-BE49-F238E27FC236}">
                <a16:creationId xmlns:a16="http://schemas.microsoft.com/office/drawing/2014/main" id="{67091565-3B12-2503-3A93-ED18C1588F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393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but NO 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07554-629F-92AA-241C-2C80B9C54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5205" y="4837187"/>
            <a:ext cx="17949407" cy="129540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9000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 dirty="0"/>
              <a:t>FINALE WORTE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17D468CC-9790-084A-EDB7-023C3234FB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6880" y="1092771"/>
            <a:ext cx="4782722" cy="1307908"/>
            <a:chOff x="375183" y="375193"/>
            <a:chExt cx="3730981" cy="1020294"/>
          </a:xfrm>
        </p:grpSpPr>
        <p:sp>
          <p:nvSpPr>
            <p:cNvPr id="29" name="bg object 17">
              <a:extLst>
                <a:ext uri="{FF2B5EF4-FFF2-40B4-BE49-F238E27FC236}">
                  <a16:creationId xmlns:a16="http://schemas.microsoft.com/office/drawing/2014/main" id="{FC35E129-5680-464E-18BB-7B1E63378A1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bg object 18">
              <a:extLst>
                <a:ext uri="{FF2B5EF4-FFF2-40B4-BE49-F238E27FC236}">
                  <a16:creationId xmlns:a16="http://schemas.microsoft.com/office/drawing/2014/main" id="{F56B068E-7449-B56A-25BE-AE563EA43607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bg object 19">
              <a:extLst>
                <a:ext uri="{FF2B5EF4-FFF2-40B4-BE49-F238E27FC236}">
                  <a16:creationId xmlns:a16="http://schemas.microsoft.com/office/drawing/2014/main" id="{43EEE3B4-79DD-F09E-60E8-D6BA5E49E7B3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2" name="bg object 20">
              <a:extLst>
                <a:ext uri="{FF2B5EF4-FFF2-40B4-BE49-F238E27FC236}">
                  <a16:creationId xmlns:a16="http://schemas.microsoft.com/office/drawing/2014/main" id="{A9557956-F417-5336-6671-BFF416C11DD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3" name="bg object 21">
              <a:extLst>
                <a:ext uri="{FF2B5EF4-FFF2-40B4-BE49-F238E27FC236}">
                  <a16:creationId xmlns:a16="http://schemas.microsoft.com/office/drawing/2014/main" id="{395430C4-D82E-79AD-37C2-645C8CFAB96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4" name="bg object 22">
              <a:extLst>
                <a:ext uri="{FF2B5EF4-FFF2-40B4-BE49-F238E27FC236}">
                  <a16:creationId xmlns:a16="http://schemas.microsoft.com/office/drawing/2014/main" id="{4CCAFCFF-54B2-5DE0-733F-AF3056E8173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5" name="bg object 23">
              <a:extLst>
                <a:ext uri="{FF2B5EF4-FFF2-40B4-BE49-F238E27FC236}">
                  <a16:creationId xmlns:a16="http://schemas.microsoft.com/office/drawing/2014/main" id="{3E8F0EC4-687E-D8E8-1F36-C6344FB84973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495CE405-00F4-C8C6-0B6F-50310810F23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ECB1C0E0-9E0D-5B87-AA33-09AA02E7E70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1FB610C6-C819-9C68-F7BF-06A922FF8282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557C0030-D065-7E00-259F-642DF4E759FF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CF2570ED-3579-6782-C0FB-DE24669CC65C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C5C97B51-AB49-535C-D1B2-56BE8E9DB951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2125E869-81F9-F690-C633-DAD657DEA8DC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ABE7A761-22B9-9808-CB0F-88AE14619C27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Holder 3">
            <a:extLst>
              <a:ext uri="{FF2B5EF4-FFF2-40B4-BE49-F238E27FC236}">
                <a16:creationId xmlns:a16="http://schemas.microsoft.com/office/drawing/2014/main" id="{136DB7B2-2AEB-1B5D-4AD8-00980763D9E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75034" y="6637387"/>
            <a:ext cx="17749578" cy="3337024"/>
          </a:xfrm>
          <a:prstGeom prst="rect">
            <a:avLst/>
          </a:prstGeom>
        </p:spPr>
        <p:txBody>
          <a:bodyPr lIns="0" tIns="0" rIns="0" bIns="0"/>
          <a:lstStyle>
            <a:lvl1pPr marL="457200" indent="-457200">
              <a:lnSpc>
                <a:spcPct val="125000"/>
              </a:lnSpc>
              <a:buFontTx/>
              <a:buNone/>
              <a:defRPr sz="3400" b="0" i="0" dirty="0">
                <a:solidFill>
                  <a:schemeClr val="bg1"/>
                </a:solidFill>
                <a:latin typeface="Helvetica" pitchFamily="2" charset="0"/>
                <a:ea typeface="+mn-ea"/>
                <a:cs typeface="Helvetica" pitchFamily="2" charset="0"/>
              </a:defRPr>
            </a:lvl1pPr>
            <a:lvl2pPr>
              <a:defRPr sz="2800">
                <a:solidFill>
                  <a:schemeClr val="bg1"/>
                </a:solidFill>
                <a:latin typeface="Helvetica" pitchFamily="2" charset="0"/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r>
              <a:rPr lang="de-AT" dirty="0"/>
              <a:t>Eventuell weitere Hinweise wie </a:t>
            </a:r>
          </a:p>
          <a:p>
            <a:pPr lvl="1"/>
            <a:r>
              <a:rPr lang="de-AT" dirty="0"/>
              <a:t>Handlungsaufforderungen</a:t>
            </a:r>
          </a:p>
          <a:p>
            <a:pPr lvl="1"/>
            <a:r>
              <a:rPr lang="de-AT" dirty="0"/>
              <a:t>Downloadbare Ressourcen oder Literatur</a:t>
            </a:r>
          </a:p>
          <a:p>
            <a:pPr lvl="1"/>
            <a:r>
              <a:rPr lang="de-AT" dirty="0"/>
              <a:t>QR-Code, Ausblick oder finaler Humor…</a:t>
            </a:r>
          </a:p>
        </p:txBody>
      </p:sp>
    </p:spTree>
    <p:extLst>
      <p:ext uri="{BB962C8B-B14F-4D97-AF65-F5344CB8AC3E}">
        <p14:creationId xmlns:p14="http://schemas.microsoft.com/office/powerpoint/2010/main" val="2860480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13" userDrawn="1">
          <p15:clr>
            <a:srgbClr val="FBAE40"/>
          </p15:clr>
        </p15:guide>
        <p15:guide id="2" pos="707" userDrawn="1">
          <p15:clr>
            <a:srgbClr val="FBAE40"/>
          </p15:clr>
        </p15:guide>
        <p15:guide id="3" pos="1204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I Schriftart, BULME Far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Schriftarten, Farben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 hasCustomPrompt="1"/>
          </p:nvPr>
        </p:nvSpPr>
        <p:spPr>
          <a:xfrm>
            <a:off x="979488" y="2460923"/>
            <a:ext cx="18145570" cy="75608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25000"/>
              </a:lnSpc>
              <a:buFont typeface="Arial" panose="020B0604020202020204" pitchFamily="34" charset="0"/>
              <a:buNone/>
              <a:defRPr sz="3200" b="0" i="0" dirty="0"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</a:lstStyle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 Schriftart: 	Helvetica </a:t>
            </a:r>
            <a:b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 err="1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Bulme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-Blau:		HEX	#102D41</a:t>
            </a:r>
          </a:p>
          <a:p>
            <a:pPr>
              <a:lnSpc>
                <a:spcPct val="115000"/>
              </a:lnSpc>
            </a:pP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 │45│65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WING:			HEX	#FFE32C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FFE32C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255 │227│44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Elektrotechnik:</a:t>
            </a:r>
            <a:r>
              <a:rPr lang="de-AT" dirty="0">
                <a:solidFill>
                  <a:srgbClr val="DE5528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e-AT" dirty="0">
                <a:solidFill>
                  <a:srgbClr val="DE5528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HEX	#DE5528</a:t>
            </a:r>
          </a:p>
          <a:p>
            <a:pPr>
              <a:lnSpc>
                <a:spcPct val="115000"/>
              </a:lnSpc>
              <a:tabLst>
                <a:tab pos="449580" algn="l"/>
                <a:tab pos="899160" algn="l"/>
                <a:tab pos="1348740" algn="l"/>
                <a:tab pos="1798320" algn="l"/>
                <a:tab pos="2247900" algn="l"/>
                <a:tab pos="4298950" algn="l"/>
              </a:tabLst>
            </a:pPr>
            <a:r>
              <a:rPr lang="de-AT" dirty="0">
                <a:solidFill>
                  <a:srgbClr val="DE5528"/>
                </a:solidFill>
                <a:cs typeface="Times New Roman" panose="02020603050405020304" pitchFamily="18" charset="0"/>
              </a:rPr>
              <a:t>					             RGB 222 │85│40</a:t>
            </a:r>
            <a:r>
              <a:rPr lang="de-AT" dirty="0"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Elektronik:			HEX	#A2CB3E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A2CB3E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162 │203│62</a:t>
            </a:r>
            <a:endParaRPr lang="de-AT" dirty="0">
              <a:effectLst/>
              <a:latin typeface="Helvetica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Maschinenbau:		HEX	#7BB7E5</a:t>
            </a:r>
          </a:p>
          <a:p>
            <a:pPr>
              <a:lnSpc>
                <a:spcPct val="115000"/>
              </a:lnSpc>
            </a:pPr>
            <a:r>
              <a:rPr lang="de-AT" dirty="0">
                <a:solidFill>
                  <a:srgbClr val="7BB7E5"/>
                </a:solidFill>
                <a:effectLst/>
                <a:latin typeface="Helvetica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RGB	123 │183│229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03894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 Logos, Symbo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CI: Logos und Symbole zum kopieren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pic>
        <p:nvPicPr>
          <p:cNvPr id="34" name="Grafik 3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0858975-A949-6BF1-5C52-669B5DCFBB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2820963"/>
            <a:ext cx="7772400" cy="21254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60BE52C-BFE1-0333-109C-D645A6EA82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072" y="2526980"/>
            <a:ext cx="720000" cy="72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A5CFCF8-9979-89FF-8ABA-46DFF0D741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85205" y="2598980"/>
            <a:ext cx="720000" cy="576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5BA65C4-A21B-96D8-C8A5-E756029A61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25024" y="2598980"/>
            <a:ext cx="720000" cy="576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26B5310F-F26B-ECAB-8E63-0F38230DE4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45205" y="2531579"/>
            <a:ext cx="720000" cy="72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6893947-3029-0FAB-82D6-0F74BEBFBF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8452" y="2642435"/>
            <a:ext cx="720000" cy="576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D1A942D-3B2A-F3FB-99C6-33125DB6370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1699" y="2598980"/>
            <a:ext cx="720000" cy="72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89ED5752-66FB-08DF-AA8E-F2F154A61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65197" y="2642435"/>
            <a:ext cx="720000" cy="72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07BE9122-9205-D294-5601-D714FDF383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98695" y="2742980"/>
            <a:ext cx="720000" cy="576000"/>
          </a:xfrm>
          <a:prstGeom prst="rect">
            <a:avLst/>
          </a:prstGeom>
        </p:spPr>
      </p:pic>
      <p:pic>
        <p:nvPicPr>
          <p:cNvPr id="25" name="Grafik 24" descr="Ein Bild, das Muster, Rechteck, Grafiken, Design enthält.&#10;&#10;KI-generierte Inhalte können fehlerhaft sein.">
            <a:extLst>
              <a:ext uri="{FF2B5EF4-FFF2-40B4-BE49-F238E27FC236}">
                <a16:creationId xmlns:a16="http://schemas.microsoft.com/office/drawing/2014/main" id="{8C984062-F744-A786-0F84-40D93D09E5A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628" y="5845299"/>
            <a:ext cx="3352800" cy="33401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C05F0FFF-3C4B-2D63-47A8-48FA94DB5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32050" y="2642435"/>
            <a:ext cx="720000" cy="72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73EAE80F-521C-056E-F07D-70679A7A588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55130" y="6086599"/>
            <a:ext cx="2857500" cy="28575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629625EF-F18F-678D-70BA-15A324AE9318}"/>
              </a:ext>
            </a:extLst>
          </p:cNvPr>
          <p:cNvSpPr txBox="1"/>
          <p:nvPr userDrawn="1"/>
        </p:nvSpPr>
        <p:spPr>
          <a:xfrm>
            <a:off x="1383071" y="9185399"/>
            <a:ext cx="582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BULME EL QR-Code (weiß / schwarz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F19410B0-3523-2237-08A8-D6B306FA93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52847" y="6086599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40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Menschen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2D38797-2CED-D0B2-76F3-E7672D160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8714" y="3097833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142D7C0A-169A-99AD-0E6E-8BA861772A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8235" y="5871108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8CCB0C2-B292-FF58-590E-9445AFC214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2064" y="3142410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32D90A3-9631-7148-DAF2-AEA501020F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2064" y="3142410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C93E0487-5A4A-8153-6093-A377796166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38796" y="5879492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FDF4B646-936B-8447-79EB-5A08682C4E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82064" y="3142410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394D8BB-99B6-0637-2855-D169C0E68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09607" y="3182235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3D16725-DB21-2039-93DB-3F8CEB5C11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6112" y="3182235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D56B575E-C10B-2B33-F217-E9BF7D1741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87600" y="3142410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C30689F6-E6C5-5FDD-FDD5-4EC30CB867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06896" y="3077110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29776758-634D-D743-9655-C287DE8062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38796" y="3177435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964D6F53-A497-AF53-F317-71A6996C24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7780" y="5932810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35A15CB2-50AE-FE32-8D69-8ABE0B2C45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674996" y="3077110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BD4E65D-DFC0-2FD8-596C-8F1675EBF5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379328" y="3077110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DA7BB369-55A4-3208-0153-09D3515818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943096" y="3077110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AC31D608-D640-8D3E-25F7-DF1726344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53160" y="3077110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D2DE2B60-0198-0ADC-B7DD-19761A9516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1114" y="4502823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0ACAFBE0-FBAC-ED73-6F3E-7252808E1B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002064" y="4488198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7C0576E3-64D6-14C6-5AA8-1C47405A62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951114" y="450282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E8CEEA6-C5C7-14DF-D518-E4C2092495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50576" y="4488198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F0162998-20AE-184E-8156-EC60B2DDA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53014" y="4502823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4E7C86CE-3A8E-0DD0-9169-6BDDCA65BD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22349" y="4430009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97B608BF-080B-EA2F-A264-82393274E3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48138" y="4388767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CE7F21CB-CE6C-0D0A-4EA7-A3A8B4176D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008430" y="4455360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387223CC-2686-E6C3-14AE-DD5C0C444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784337" y="3077110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C9D1C9FA-87CA-B868-D58D-61C0E4F646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77690" y="5871108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39E97EC5-5185-4E66-D477-22D8EAD35A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870696" y="3097833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DC7DC153-50AC-06B3-A35E-4E6DDBFB60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43719" y="5899311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0E4ED5AC-A2A2-8D25-C679-F2136D97F8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951114" y="5932810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476F4A78-1C7F-0670-10CA-08AF820B9E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62398" y="5999385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E751A64D-8F97-194A-8C5F-9EB6E79EA8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04751" y="5879492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4E409635-59A2-AB48-F94D-D888C46BBD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113114" y="5932810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6B806C2-36EB-BDC0-F196-194C8CCFB1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8300592" y="4456597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0F3B0CA4-F705-4DF8-6489-E30237501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031114" y="5899311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BEB5A37B-8FAE-4A68-0A2D-CE79A20BF8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888402" y="4474305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44695755-80B0-4089-4B71-1CD5DB73E6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3427917" y="4474305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FDE81B6F-7A65-B975-261B-40A2B6C490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140300" y="4367410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C631958-48C3-16F0-F53F-A190F8D9F2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138796" y="4455360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A7D8FA9A-7591-7923-9FCE-4F2B30C261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436035" y="445834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88950A23-CAEC-5C49-BA60-AB111F15D1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4689309" y="447430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3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Tech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3760FB9-2C73-EC02-9D85-C9AAE92615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70432" y="2396164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FB2BC41-D5A6-E055-B969-DBA9FDE018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440" y="2396164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1D33D87-6363-0CD2-F06E-25EF5AED62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1376" y="2372939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7B18F84F-318D-ADD9-9DA5-59F7D734EE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4592" y="2438214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CB1DD05-9E55-A4AA-FE3F-0807346D8C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344" y="2372939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85100944-D5DC-4979-1A47-DB8E4278CE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74644" y="531759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496257F6-3806-F8A0-F95F-E309C9EC3A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5764" y="5325604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DC3BEED0-4930-7BF0-6E95-8040D47DE4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71610" y="3908539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054C1CFA-0542-B8B8-1F1E-F968C63A65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1378" y="5359239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FDCE6BE2-D2B1-F549-E45B-F6A3D3FA2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06866" y="5390615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A1BAF731-B772-5FFA-9E89-81EDC80C3F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39918" y="5337114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16CC388-DD53-F949-AB5C-3B29F41F86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66388" y="3879664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7F3E894-5FC5-8BD7-25CD-CDD0CB4E84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5306" y="3908539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E87A5DA6-B578-23CC-CE93-EB4ECB46A6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768" y="5319527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FF2401F8-BFB5-6E95-951F-B9F7888B3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508030" y="5319527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24D8640F-859B-3387-2173-280429F784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97158" y="5319527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BE7BC537-F495-3236-1454-1822437789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75246" y="532210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DA339883-6A38-4421-CC35-529EBB545D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3926631" y="5319527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073B6C08-8357-92D5-ED55-C60E5F163E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44464" y="2428714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1BFDE45F-F24B-0DE3-E830-0B6C335F81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640814" y="5337114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D8059820-F441-F1B4-5244-82ED355563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7442" y="2386664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610872A6-49FA-ED7E-91B3-DF7DBA304A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710420" y="2372939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488944C7-CA5B-20DA-5811-BE5558A72E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990426" y="2372939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E050FFBD-C253-851D-F26B-8174056E6F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366388" y="5319527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71B66BFA-5603-A7F5-E36E-943955DD73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5350432" y="5325604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EA89255B-CCB2-46FA-2CC2-3FA55F8C92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583464" y="2405664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377BB85A-A298-9B0E-D1E1-BCD5AE11AA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28731" y="3927889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96D67255-FA57-6122-6D64-3BD20301AF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71946" y="3926614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CF4A6D4C-D05E-FA24-FD64-32C37D0CEB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985516" y="3926027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55F56D86-F251-9983-F018-01134C1B0B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876312" y="2396164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53DFD9E2-5A07-8444-1369-E08516EB18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542782" y="247885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43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Finance etc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Finanzen etc.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392C84-C8F1-C71A-D368-6CD4F8BCF5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87334" y="1910926"/>
            <a:ext cx="1080000" cy="1080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7378DCF-ED63-3937-A030-0D6A6657F0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1193" y="1910926"/>
            <a:ext cx="1080000" cy="1080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36B7CE1-890F-1D7C-C139-B06B6B99C0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04125" y="1963707"/>
            <a:ext cx="1080000" cy="10800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528064D-AEDD-4673-2FDE-10CE5F3A56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69387" y="1920863"/>
            <a:ext cx="1080000" cy="10800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52B31E9-298F-831D-24B2-9BE65A776F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3486" y="3253875"/>
            <a:ext cx="1080000" cy="108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9B4ED6C-72E8-1169-6158-C427851ACE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48024" y="3253875"/>
            <a:ext cx="1080000" cy="10800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BEC772E-BEE5-6AD8-DBA1-78914EA5C4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86950" y="3275441"/>
            <a:ext cx="1080000" cy="108000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DF227F9A-0D54-1E21-1F8C-7139EBBFFA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3418" y="1920863"/>
            <a:ext cx="1080000" cy="1080000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D36DB02-3493-0608-526E-0D61CCD39F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0312" y="1920863"/>
            <a:ext cx="1080000" cy="10800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79249C1F-2D9F-D416-2032-8D65BB003F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48682" y="1942763"/>
            <a:ext cx="1080000" cy="1080000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8DF9EAA9-79ED-64B6-2F6A-0F0A06F4B1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5026" y="1920863"/>
            <a:ext cx="1080000" cy="1080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29C397B5-6C32-0CCC-09F8-08A3492D4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74645" y="1920863"/>
            <a:ext cx="1080000" cy="1080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03BC0A7-2A8C-0213-B53F-052F1076DC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56350" y="1920863"/>
            <a:ext cx="1080000" cy="108000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BD08825D-1F5C-7FE6-F0D0-9E2CBA93FC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74690" y="3275441"/>
            <a:ext cx="1080000" cy="1080000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75F364A8-FE9C-8F50-ABA8-BE6403F1D9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44214" y="3316406"/>
            <a:ext cx="1080000" cy="1080000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CA1B4A4F-F199-A946-20BF-297B23C908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621358" y="3277241"/>
            <a:ext cx="1080000" cy="108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1EEE7556-4EB3-8D3D-90A6-C09C86210B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65382" y="3253875"/>
            <a:ext cx="1080000" cy="1080000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A7C9DDFA-B3EE-D330-7E58-78BAC07B22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003237" y="3275441"/>
            <a:ext cx="1080000" cy="1080000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E9B2AEB3-6633-FDB9-B0DD-88E60BE059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0814" y="3288963"/>
            <a:ext cx="1080000" cy="1080000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9169B0D-4F3A-6C40-ACA3-CEBEAA75D1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70486" y="1920863"/>
            <a:ext cx="1080000" cy="1080000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C9EFC726-53AA-A808-82A3-C62F77C98C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056350" y="3264566"/>
            <a:ext cx="1080000" cy="1080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6EA52B65-AE3E-8ED7-133E-AD0F3FC3A6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40282" y="3275441"/>
            <a:ext cx="1080000" cy="1080000"/>
          </a:xfrm>
          <a:prstGeom prst="rect">
            <a:avLst/>
          </a:pr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67B6EA5C-C0D5-DDB2-F9B4-D47BC83DAB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265840" y="7286813"/>
            <a:ext cx="1080000" cy="1080000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09F4E29D-5146-2A29-A038-8467E9729C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839738" y="7317275"/>
            <a:ext cx="1080000" cy="1080000"/>
          </a:xfrm>
          <a:prstGeom prst="rect">
            <a:avLst/>
          </a:pr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92D80BE4-A21B-96EE-BBD5-1A5E201DAD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817867" y="5821287"/>
            <a:ext cx="1080000" cy="1080000"/>
          </a:xfrm>
          <a:prstGeom prst="rect">
            <a:avLst/>
          </a:pr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6FBDCB48-61F8-935E-A68C-4FBBE333EF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283418" y="8797687"/>
            <a:ext cx="1080000" cy="1080000"/>
          </a:xfrm>
          <a:prstGeom prst="rect">
            <a:avLst/>
          </a:prstGeom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54ED0D32-9526-115F-2FF2-0E518DD0E4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037793" y="8797687"/>
            <a:ext cx="1080000" cy="1080000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88B746B5-E753-C3A9-3000-6ED69E081B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7581" y="8797687"/>
            <a:ext cx="1080000" cy="1080000"/>
          </a:xfrm>
          <a:prstGeom prst="rect">
            <a:avLst/>
          </a:prstGeom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E440CF0A-07C6-2B67-5A8A-2DAA52BA71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5690068" y="7194488"/>
            <a:ext cx="1080000" cy="1080000"/>
          </a:xfrm>
          <a:prstGeom prst="rect">
            <a:avLst/>
          </a:prstGeom>
        </p:spPr>
      </p:pic>
      <p:pic>
        <p:nvPicPr>
          <p:cNvPr id="51" name="Grafik 50">
            <a:extLst>
              <a:ext uri="{FF2B5EF4-FFF2-40B4-BE49-F238E27FC236}">
                <a16:creationId xmlns:a16="http://schemas.microsoft.com/office/drawing/2014/main" id="{CF734041-D34C-0B54-86A1-692983C38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4486619" y="7194488"/>
            <a:ext cx="1080000" cy="1080000"/>
          </a:xfrm>
          <a:prstGeom prst="rect">
            <a:avLst/>
          </a:prstGeom>
        </p:spPr>
      </p:pic>
      <p:pic>
        <p:nvPicPr>
          <p:cNvPr id="52" name="Grafik 51">
            <a:extLst>
              <a:ext uri="{FF2B5EF4-FFF2-40B4-BE49-F238E27FC236}">
                <a16:creationId xmlns:a16="http://schemas.microsoft.com/office/drawing/2014/main" id="{A5653365-B31A-FD17-BD34-80C8297471B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46590" y="7317275"/>
            <a:ext cx="1080000" cy="1080000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EC6BB471-033A-9D0B-6BD1-893657F2E5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637340" y="5811263"/>
            <a:ext cx="1080000" cy="1080000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C99F6A7B-5816-1EA6-162B-00AC1174AC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078224" y="8702600"/>
            <a:ext cx="1080000" cy="1080000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50E0464C-6F0B-F012-3A15-0E511C5C55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20729" y="7286863"/>
            <a:ext cx="1080000" cy="1080000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586EC1E1-4753-B9C4-3DE9-096646E23F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037793" y="5816813"/>
            <a:ext cx="1080000" cy="10800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8F9BC8A8-E273-2C4B-12DB-9BC3AE5FC0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295112" y="5835274"/>
            <a:ext cx="1080000" cy="1080000"/>
          </a:xfrm>
          <a:prstGeom prst="rect">
            <a:avLst/>
          </a:prstGeom>
        </p:spPr>
      </p:pic>
      <p:pic>
        <p:nvPicPr>
          <p:cNvPr id="58" name="Grafik 57">
            <a:extLst>
              <a:ext uri="{FF2B5EF4-FFF2-40B4-BE49-F238E27FC236}">
                <a16:creationId xmlns:a16="http://schemas.microsoft.com/office/drawing/2014/main" id="{CE3C50A7-D5B2-3012-0F65-6C868730BA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058009" y="8637045"/>
            <a:ext cx="1080000" cy="1080000"/>
          </a:xfrm>
          <a:prstGeom prst="rect">
            <a:avLst/>
          </a:prstGeom>
        </p:spPr>
      </p:pic>
      <p:pic>
        <p:nvPicPr>
          <p:cNvPr id="59" name="Grafik 58">
            <a:extLst>
              <a:ext uri="{FF2B5EF4-FFF2-40B4-BE49-F238E27FC236}">
                <a16:creationId xmlns:a16="http://schemas.microsoft.com/office/drawing/2014/main" id="{53CFA519-FAAF-74EA-293C-0517D42A51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933500" y="8637045"/>
            <a:ext cx="1080000" cy="1080000"/>
          </a:xfrm>
          <a:prstGeom prst="rect">
            <a:avLst/>
          </a:prstGeom>
        </p:spPr>
      </p:pic>
      <p:pic>
        <p:nvPicPr>
          <p:cNvPr id="60" name="Grafik 59">
            <a:extLst>
              <a:ext uri="{FF2B5EF4-FFF2-40B4-BE49-F238E27FC236}">
                <a16:creationId xmlns:a16="http://schemas.microsoft.com/office/drawing/2014/main" id="{7A176E88-0824-2D61-F3B3-603F0805FE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6896326" y="7194488"/>
            <a:ext cx="1080000" cy="1080000"/>
          </a:xfrm>
          <a:prstGeom prst="rect">
            <a:avLst/>
          </a:prstGeom>
        </p:spPr>
      </p:pic>
      <p:pic>
        <p:nvPicPr>
          <p:cNvPr id="61" name="Grafik 60">
            <a:extLst>
              <a:ext uri="{FF2B5EF4-FFF2-40B4-BE49-F238E27FC236}">
                <a16:creationId xmlns:a16="http://schemas.microsoft.com/office/drawing/2014/main" id="{A49050FA-2C72-BEED-13C3-B29EB0652B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8195354" y="7193719"/>
            <a:ext cx="1080000" cy="1080000"/>
          </a:xfrm>
          <a:prstGeom prst="rect">
            <a:avLst/>
          </a:prstGeom>
        </p:spPr>
      </p:pic>
      <p:pic>
        <p:nvPicPr>
          <p:cNvPr id="79" name="Grafik 78">
            <a:extLst>
              <a:ext uri="{FF2B5EF4-FFF2-40B4-BE49-F238E27FC236}">
                <a16:creationId xmlns:a16="http://schemas.microsoft.com/office/drawing/2014/main" id="{E480E05E-3E8B-68E6-08D3-5B677EBE18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569643" y="5810482"/>
            <a:ext cx="1080000" cy="1080000"/>
          </a:xfrm>
          <a:prstGeom prst="rect">
            <a:avLst/>
          </a:prstGeom>
        </p:spPr>
      </p:pic>
      <p:pic>
        <p:nvPicPr>
          <p:cNvPr id="80" name="Grafik 79">
            <a:extLst>
              <a:ext uri="{FF2B5EF4-FFF2-40B4-BE49-F238E27FC236}">
                <a16:creationId xmlns:a16="http://schemas.microsoft.com/office/drawing/2014/main" id="{92C97253-44DC-0BB4-D98D-1A3E46453A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844174" y="5749037"/>
            <a:ext cx="1080000" cy="1080000"/>
          </a:xfrm>
          <a:prstGeom prst="rect">
            <a:avLst/>
          </a:prstGeom>
        </p:spPr>
      </p:pic>
      <p:pic>
        <p:nvPicPr>
          <p:cNvPr id="81" name="Grafik 80">
            <a:extLst>
              <a:ext uri="{FF2B5EF4-FFF2-40B4-BE49-F238E27FC236}">
                <a16:creationId xmlns:a16="http://schemas.microsoft.com/office/drawing/2014/main" id="{0CE8DA80-30A0-AAFD-D3CD-48303AE686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6881757" y="8765825"/>
            <a:ext cx="1080000" cy="1080000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3F588592-3A75-6316-2B70-989297E7D5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344403" y="7286813"/>
            <a:ext cx="1080000" cy="1080000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5F4A015E-3A6F-6A6D-8951-84931A7654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357491" y="7262737"/>
            <a:ext cx="1080000" cy="1080000"/>
          </a:xfrm>
          <a:prstGeom prst="rect">
            <a:avLst/>
          </a:prstGeom>
        </p:spPr>
      </p:pic>
      <p:pic>
        <p:nvPicPr>
          <p:cNvPr id="84" name="Grafik 83">
            <a:extLst>
              <a:ext uri="{FF2B5EF4-FFF2-40B4-BE49-F238E27FC236}">
                <a16:creationId xmlns:a16="http://schemas.microsoft.com/office/drawing/2014/main" id="{C52656B8-7C72-E1A8-3929-76CA0AC207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237642" y="5821287"/>
            <a:ext cx="1080000" cy="1080000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F097CD53-652A-6B87-0650-FC78BAB2A8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3141227" y="5804012"/>
            <a:ext cx="1080000" cy="1080000"/>
          </a:xfrm>
          <a:prstGeom prst="rect">
            <a:avLst/>
          </a:prstGeom>
        </p:spPr>
      </p:pic>
      <p:pic>
        <p:nvPicPr>
          <p:cNvPr id="86" name="Grafik 85">
            <a:extLst>
              <a:ext uri="{FF2B5EF4-FFF2-40B4-BE49-F238E27FC236}">
                <a16:creationId xmlns:a16="http://schemas.microsoft.com/office/drawing/2014/main" id="{CDD93587-FA77-55A6-68EB-DEFD2442CE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6896326" y="5749037"/>
            <a:ext cx="1080000" cy="1080000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B429180D-6EF1-72BA-3FD3-BF042796EC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0309205" y="7268906"/>
            <a:ext cx="1080000" cy="1080000"/>
          </a:xfrm>
          <a:prstGeom prst="rect">
            <a:avLst/>
          </a:prstGeom>
        </p:spPr>
      </p:pic>
      <p:pic>
        <p:nvPicPr>
          <p:cNvPr id="88" name="Grafik 87">
            <a:extLst>
              <a:ext uri="{FF2B5EF4-FFF2-40B4-BE49-F238E27FC236}">
                <a16:creationId xmlns:a16="http://schemas.microsoft.com/office/drawing/2014/main" id="{F99FF2F2-9D5A-B5EA-EF7D-EA4DC12CF86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4437491" y="7286813"/>
            <a:ext cx="1080000" cy="1080000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15C929FE-F395-93EB-3B66-0B8449E0DD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5621795" y="5801712"/>
            <a:ext cx="1080000" cy="1080000"/>
          </a:xfrm>
          <a:prstGeom prst="rect">
            <a:avLst/>
          </a:prstGeom>
        </p:spPr>
      </p:pic>
      <p:pic>
        <p:nvPicPr>
          <p:cNvPr id="90" name="Grafik 89">
            <a:extLst>
              <a:ext uri="{FF2B5EF4-FFF2-40B4-BE49-F238E27FC236}">
                <a16:creationId xmlns:a16="http://schemas.microsoft.com/office/drawing/2014/main" id="{F3CB4DFC-E113-AC82-ED26-05E71C4710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437491" y="5811263"/>
            <a:ext cx="1080000" cy="1080000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B4DEA80E-F7D2-4654-D083-3BA78F3898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4486619" y="5782174"/>
            <a:ext cx="1080000" cy="1080000"/>
          </a:xfrm>
          <a:prstGeom prst="rect">
            <a:avLst/>
          </a:prstGeom>
        </p:spPr>
      </p:pic>
      <p:pic>
        <p:nvPicPr>
          <p:cNvPr id="92" name="Grafik 91">
            <a:extLst>
              <a:ext uri="{FF2B5EF4-FFF2-40B4-BE49-F238E27FC236}">
                <a16:creationId xmlns:a16="http://schemas.microsoft.com/office/drawing/2014/main" id="{56E0DF99-AD5A-6E28-31E5-FC2B4C6501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5646590" y="8839974"/>
            <a:ext cx="1080000" cy="1080000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ACEC1713-CF94-C630-3C70-4343462D244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9505862" y="8697650"/>
            <a:ext cx="1080000" cy="1080000"/>
          </a:xfrm>
          <a:prstGeom prst="rect">
            <a:avLst/>
          </a:prstGeom>
        </p:spPr>
      </p:pic>
      <p:pic>
        <p:nvPicPr>
          <p:cNvPr id="94" name="Grafik 93">
            <a:extLst>
              <a:ext uri="{FF2B5EF4-FFF2-40B4-BE49-F238E27FC236}">
                <a16:creationId xmlns:a16="http://schemas.microsoft.com/office/drawing/2014/main" id="{3D8B58F1-4BA6-95D1-DBD8-A443B93FEB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927581" y="5821287"/>
            <a:ext cx="1080000" cy="1080000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4DD96B29-29C1-BE1B-571A-5A395AA1EC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4411423" y="8797687"/>
            <a:ext cx="1080000" cy="1080000"/>
          </a:xfrm>
          <a:prstGeom prst="rect">
            <a:avLst/>
          </a:prstGeom>
        </p:spPr>
      </p:pic>
      <p:pic>
        <p:nvPicPr>
          <p:cNvPr id="96" name="Grafik 95">
            <a:extLst>
              <a:ext uri="{FF2B5EF4-FFF2-40B4-BE49-F238E27FC236}">
                <a16:creationId xmlns:a16="http://schemas.microsoft.com/office/drawing/2014/main" id="{B3B6E9FD-4EC8-ED15-CA06-5061553EFA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056333" y="7317275"/>
            <a:ext cx="1080000" cy="1080000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81A51E79-E928-4CC8-4A62-3495BC0F9C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8017716" y="5811263"/>
            <a:ext cx="1080000" cy="1080000"/>
          </a:xfrm>
          <a:prstGeom prst="rect">
            <a:avLst/>
          </a:prstGeom>
        </p:spPr>
      </p:pic>
      <p:pic>
        <p:nvPicPr>
          <p:cNvPr id="98" name="Grafik 97">
            <a:extLst>
              <a:ext uri="{FF2B5EF4-FFF2-40B4-BE49-F238E27FC236}">
                <a16:creationId xmlns:a16="http://schemas.microsoft.com/office/drawing/2014/main" id="{9A384AEF-34B6-BF2F-B6A1-B49905F0E4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27581" y="7286813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0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: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hasCustomPrompt="1"/>
          </p:nvPr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 i="0">
                <a:solidFill>
                  <a:srgbClr val="A2CB3E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de-AT" dirty="0"/>
              <a:t>Icons: Pfeile</a:t>
            </a:r>
            <a:br>
              <a:rPr lang="de-AT" dirty="0"/>
            </a:br>
            <a:br>
              <a:rPr lang="de-AT" dirty="0"/>
            </a:br>
            <a:endParaRPr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E43D81C-2C5A-3417-2919-E3B38C62454D}"/>
              </a:ext>
            </a:extLst>
          </p:cNvPr>
          <p:cNvSpPr txBox="1"/>
          <p:nvPr userDrawn="1"/>
        </p:nvSpPr>
        <p:spPr>
          <a:xfrm>
            <a:off x="7868093" y="10845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8" name="Holder 3">
            <a:extLst>
              <a:ext uri="{FF2B5EF4-FFF2-40B4-BE49-F238E27FC236}">
                <a16:creationId xmlns:a16="http://schemas.microsoft.com/office/drawing/2014/main" id="{54459A97-A5A3-C2B2-975B-3A4BB56080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5256000" y="10470452"/>
            <a:ext cx="9612000" cy="562927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 dirty="0"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F7068105-1346-F8EC-9488-D3F2D460C542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3600000" cy="562927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Holder 5">
            <a:extLst>
              <a:ext uri="{FF2B5EF4-FFF2-40B4-BE49-F238E27FC236}">
                <a16:creationId xmlns:a16="http://schemas.microsoft.com/office/drawing/2014/main" id="{71CFE310-D9F9-44FA-C2D6-044C3A5CFC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5508962" y="10470452"/>
            <a:ext cx="3600000" cy="562927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6F670E9-5939-73B4-7C3E-F7CB62E9DE5E}"/>
              </a:ext>
            </a:extLst>
          </p:cNvPr>
          <p:cNvSpPr txBox="1">
            <a:spLocks/>
          </p:cNvSpPr>
          <p:nvPr userDrawn="1"/>
        </p:nvSpPr>
        <p:spPr>
          <a:xfrm>
            <a:off x="979488" y="588715"/>
            <a:ext cx="12312922" cy="7806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5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7908A9D-C721-8506-3DEC-DCEDF53E9D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0874" y="2622533"/>
            <a:ext cx="1080000" cy="10800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5EAA75E-A0A7-C855-406F-9E8A16D2EF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93199" y="2726283"/>
            <a:ext cx="1080000" cy="108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44A50A1-691A-B51C-73BA-EE58287793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96888" y="2726283"/>
            <a:ext cx="1080000" cy="108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6593021-A8E0-8335-48D0-DEBD584106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0949" y="2622533"/>
            <a:ext cx="1080000" cy="1080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8BC70944-6387-1270-9CA5-A0773BB2F0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0149" y="2629496"/>
            <a:ext cx="1080000" cy="108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76226185-5942-529A-4892-E04A509426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10949" y="2673552"/>
            <a:ext cx="1080000" cy="1080000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BDF699-29E7-B7FD-8C0B-F5822EC01B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1702" y="2568867"/>
            <a:ext cx="1080000" cy="10800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304A049-6CFA-4336-4DF6-E12099E8B0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1599" y="2584302"/>
            <a:ext cx="1080000" cy="10800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A7F132FF-2319-EDAB-D25E-EEB39820B4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65299" y="2726283"/>
            <a:ext cx="1080000" cy="1080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1699BDC-8BD0-B6FA-A5E0-25F81B87B4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74574" y="2726283"/>
            <a:ext cx="1080000" cy="1080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C0B0A39-EA38-29E2-1A5E-52AE83136A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431093" y="2756508"/>
            <a:ext cx="1080000" cy="1080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0B7D5C1D-BD86-1F0F-8AF1-3158150D8A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388538" y="4410333"/>
            <a:ext cx="1080000" cy="1080000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17BCDA58-AC82-9A92-74D7-13ED57204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136776" y="4410333"/>
            <a:ext cx="1080000" cy="1080000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950F247E-9582-4CF0-C5C3-72DB74C422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003193" y="2756508"/>
            <a:ext cx="1080000" cy="1080000"/>
          </a:xfrm>
          <a:prstGeom prst="rect">
            <a:avLst/>
          </a:prstGeom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1D7D0F4A-57DB-5455-C02A-156FDB0D82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6516888" y="4525083"/>
            <a:ext cx="1080000" cy="1080000"/>
          </a:xfrm>
          <a:prstGeom prst="rect">
            <a:avLst/>
          </a:prstGeom>
        </p:spPr>
      </p:pic>
      <p:pic>
        <p:nvPicPr>
          <p:cNvPr id="63" name="Grafik 62">
            <a:extLst>
              <a:ext uri="{FF2B5EF4-FFF2-40B4-BE49-F238E27FC236}">
                <a16:creationId xmlns:a16="http://schemas.microsoft.com/office/drawing/2014/main" id="{99E21938-E290-14B8-AC91-FA47628159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917724" y="4571058"/>
            <a:ext cx="1080000" cy="1080000"/>
          </a:xfrm>
          <a:prstGeom prst="rect">
            <a:avLst/>
          </a:prstGeom>
        </p:spPr>
      </p:pic>
      <p:pic>
        <p:nvPicPr>
          <p:cNvPr id="64" name="Grafik 63">
            <a:extLst>
              <a:ext uri="{FF2B5EF4-FFF2-40B4-BE49-F238E27FC236}">
                <a16:creationId xmlns:a16="http://schemas.microsoft.com/office/drawing/2014/main" id="{A6688428-6BE1-3FC0-5D8A-523CEA8E1E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54699" y="4410333"/>
            <a:ext cx="1080000" cy="1080000"/>
          </a:xfrm>
          <a:prstGeom prst="rect">
            <a:avLst/>
          </a:prstGeom>
        </p:spPr>
      </p:pic>
      <p:pic>
        <p:nvPicPr>
          <p:cNvPr id="65" name="Grafik 64">
            <a:extLst>
              <a:ext uri="{FF2B5EF4-FFF2-40B4-BE49-F238E27FC236}">
                <a16:creationId xmlns:a16="http://schemas.microsoft.com/office/drawing/2014/main" id="{14BF561C-8FD6-1248-4784-48BEF6DDC28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966874" y="4469021"/>
            <a:ext cx="1080000" cy="1080000"/>
          </a:xfrm>
          <a:prstGeom prst="rect">
            <a:avLst/>
          </a:prstGeom>
        </p:spPr>
      </p:pic>
      <p:pic>
        <p:nvPicPr>
          <p:cNvPr id="66" name="Grafik 65">
            <a:extLst>
              <a:ext uri="{FF2B5EF4-FFF2-40B4-BE49-F238E27FC236}">
                <a16:creationId xmlns:a16="http://schemas.microsoft.com/office/drawing/2014/main" id="{45188F61-CD26-1431-2831-E2E28B98D41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17436" y="4410333"/>
            <a:ext cx="1080000" cy="1080000"/>
          </a:xfrm>
          <a:prstGeom prst="rect">
            <a:avLst/>
          </a:prstGeom>
        </p:spPr>
      </p:pic>
      <p:pic>
        <p:nvPicPr>
          <p:cNvPr id="67" name="Grafik 66">
            <a:extLst>
              <a:ext uri="{FF2B5EF4-FFF2-40B4-BE49-F238E27FC236}">
                <a16:creationId xmlns:a16="http://schemas.microsoft.com/office/drawing/2014/main" id="{5CECEC51-9E8A-D348-B2F7-7E1CEFCF17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365674" y="4469021"/>
            <a:ext cx="1080000" cy="1080000"/>
          </a:xfrm>
          <a:prstGeom prst="rect">
            <a:avLst/>
          </a:prstGeom>
        </p:spPr>
      </p:pic>
      <p:pic>
        <p:nvPicPr>
          <p:cNvPr id="68" name="Grafik 67">
            <a:extLst>
              <a:ext uri="{FF2B5EF4-FFF2-40B4-BE49-F238E27FC236}">
                <a16:creationId xmlns:a16="http://schemas.microsoft.com/office/drawing/2014/main" id="{653FF4A8-0AA5-DB13-8F8F-49AD19D1E6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59512" y="6366471"/>
            <a:ext cx="1080000" cy="1080000"/>
          </a:xfrm>
          <a:prstGeom prst="rect">
            <a:avLst/>
          </a:prstGeom>
        </p:spPr>
      </p:pic>
      <p:pic>
        <p:nvPicPr>
          <p:cNvPr id="69" name="Grafik 68">
            <a:extLst>
              <a:ext uri="{FF2B5EF4-FFF2-40B4-BE49-F238E27FC236}">
                <a16:creationId xmlns:a16="http://schemas.microsoft.com/office/drawing/2014/main" id="{51EAAD84-9D07-66C0-0E46-0B61A2C7C6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10999" y="6350196"/>
            <a:ext cx="1080000" cy="1080000"/>
          </a:xfrm>
          <a:prstGeom prst="rect">
            <a:avLst/>
          </a:prstGeom>
        </p:spPr>
      </p:pic>
      <p:pic>
        <p:nvPicPr>
          <p:cNvPr id="70" name="Grafik 69">
            <a:extLst>
              <a:ext uri="{FF2B5EF4-FFF2-40B4-BE49-F238E27FC236}">
                <a16:creationId xmlns:a16="http://schemas.microsoft.com/office/drawing/2014/main" id="{98D9801B-8C96-D677-59BA-3E99B1CE5A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168449" y="7826646"/>
            <a:ext cx="1080000" cy="1080000"/>
          </a:xfrm>
          <a:prstGeom prst="rect">
            <a:avLst/>
          </a:prstGeom>
        </p:spPr>
      </p:pic>
      <p:pic>
        <p:nvPicPr>
          <p:cNvPr id="71" name="Grafik 70">
            <a:extLst>
              <a:ext uri="{FF2B5EF4-FFF2-40B4-BE49-F238E27FC236}">
                <a16:creationId xmlns:a16="http://schemas.microsoft.com/office/drawing/2014/main" id="{90AFCA52-B8BD-1A40-315F-20584B92C5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47098" y="6278209"/>
            <a:ext cx="1080000" cy="1080000"/>
          </a:xfrm>
          <a:prstGeom prst="rect">
            <a:avLst/>
          </a:prstGeom>
        </p:spPr>
      </p:pic>
      <p:pic>
        <p:nvPicPr>
          <p:cNvPr id="72" name="Grafik 71">
            <a:extLst>
              <a:ext uri="{FF2B5EF4-FFF2-40B4-BE49-F238E27FC236}">
                <a16:creationId xmlns:a16="http://schemas.microsoft.com/office/drawing/2014/main" id="{8A348409-22CE-7A56-FDA6-B9D6C1DFEA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696374" y="7856946"/>
            <a:ext cx="1080000" cy="1080000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1EF70462-BAA2-8BDE-B4C3-3991F4AD5D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0949" y="7851171"/>
            <a:ext cx="1080000" cy="1080000"/>
          </a:xfrm>
          <a:prstGeom prst="rect">
            <a:avLst/>
          </a:prstGeom>
        </p:spPr>
      </p:pic>
      <p:pic>
        <p:nvPicPr>
          <p:cNvPr id="74" name="Grafik 73">
            <a:extLst>
              <a:ext uri="{FF2B5EF4-FFF2-40B4-BE49-F238E27FC236}">
                <a16:creationId xmlns:a16="http://schemas.microsoft.com/office/drawing/2014/main" id="{B3BB2537-D1D1-3A00-9303-FC649C0207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63149" y="6412671"/>
            <a:ext cx="1080000" cy="1080000"/>
          </a:xfrm>
          <a:prstGeom prst="rect">
            <a:avLst/>
          </a:prstGeom>
        </p:spPr>
      </p:pic>
      <p:pic>
        <p:nvPicPr>
          <p:cNvPr id="75" name="Grafik 74">
            <a:extLst>
              <a:ext uri="{FF2B5EF4-FFF2-40B4-BE49-F238E27FC236}">
                <a16:creationId xmlns:a16="http://schemas.microsoft.com/office/drawing/2014/main" id="{270A6B89-E49A-E8FA-ACDF-A9453BAF932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833224" y="7826646"/>
            <a:ext cx="1080000" cy="1080000"/>
          </a:xfrm>
          <a:prstGeom prst="rect">
            <a:avLst/>
          </a:prstGeom>
        </p:spPr>
      </p:pic>
      <p:pic>
        <p:nvPicPr>
          <p:cNvPr id="76" name="Grafik 75">
            <a:extLst>
              <a:ext uri="{FF2B5EF4-FFF2-40B4-BE49-F238E27FC236}">
                <a16:creationId xmlns:a16="http://schemas.microsoft.com/office/drawing/2014/main" id="{72676831-861D-2ACF-19BC-8D95B6C97B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571186" y="6439383"/>
            <a:ext cx="1080000" cy="1080000"/>
          </a:xfrm>
          <a:prstGeom prst="rect">
            <a:avLst/>
          </a:prstGeom>
        </p:spPr>
      </p:pic>
      <p:pic>
        <p:nvPicPr>
          <p:cNvPr id="77" name="Grafik 76">
            <a:extLst>
              <a:ext uri="{FF2B5EF4-FFF2-40B4-BE49-F238E27FC236}">
                <a16:creationId xmlns:a16="http://schemas.microsoft.com/office/drawing/2014/main" id="{B8F42756-66EF-81D4-C123-5BCEFD97F9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562224" y="7851171"/>
            <a:ext cx="1080000" cy="1080000"/>
          </a:xfrm>
          <a:prstGeom prst="rect">
            <a:avLst/>
          </a:prstGeom>
        </p:spPr>
      </p:pic>
      <p:pic>
        <p:nvPicPr>
          <p:cNvPr id="78" name="Grafik 77">
            <a:extLst>
              <a:ext uri="{FF2B5EF4-FFF2-40B4-BE49-F238E27FC236}">
                <a16:creationId xmlns:a16="http://schemas.microsoft.com/office/drawing/2014/main" id="{B65E1B85-9A53-8B68-99FF-7912E7C8BD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397449" y="6412446"/>
            <a:ext cx="1080000" cy="1080000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F5D92250-9DE3-750A-DC55-837C33B566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947210" y="6231471"/>
            <a:ext cx="1080000" cy="1080000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AB73CC29-E6A4-6993-B6B0-FD4BB5BDBB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075924" y="7826646"/>
            <a:ext cx="1080000" cy="1080000"/>
          </a:xfrm>
          <a:prstGeom prst="rect">
            <a:avLst/>
          </a:prstGeom>
        </p:spPr>
      </p:pic>
      <p:pic>
        <p:nvPicPr>
          <p:cNvPr id="101" name="Grafik 100">
            <a:extLst>
              <a:ext uri="{FF2B5EF4-FFF2-40B4-BE49-F238E27FC236}">
                <a16:creationId xmlns:a16="http://schemas.microsoft.com/office/drawing/2014/main" id="{8712A4BB-FE21-1DD7-6B0A-2468DAAFF3C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346986" y="6310409"/>
            <a:ext cx="1080000" cy="1080000"/>
          </a:xfrm>
          <a:prstGeom prst="rect">
            <a:avLst/>
          </a:prstGeom>
        </p:spPr>
      </p:pic>
      <p:pic>
        <p:nvPicPr>
          <p:cNvPr id="102" name="Grafik 101">
            <a:extLst>
              <a:ext uri="{FF2B5EF4-FFF2-40B4-BE49-F238E27FC236}">
                <a16:creationId xmlns:a16="http://schemas.microsoft.com/office/drawing/2014/main" id="{C312F2C1-1B8D-0E62-F9FF-FFFCF18F0A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394674" y="7826646"/>
            <a:ext cx="1080000" cy="1080000"/>
          </a:xfrm>
          <a:prstGeom prst="rect">
            <a:avLst/>
          </a:prstGeom>
        </p:spPr>
      </p:pic>
      <p:pic>
        <p:nvPicPr>
          <p:cNvPr id="103" name="Grafik 102">
            <a:extLst>
              <a:ext uri="{FF2B5EF4-FFF2-40B4-BE49-F238E27FC236}">
                <a16:creationId xmlns:a16="http://schemas.microsoft.com/office/drawing/2014/main" id="{887D7093-4540-EB4F-EFFE-E2FBDBA9BB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396374" y="785117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08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50">
          <p15:clr>
            <a:srgbClr val="FBAE40"/>
          </p15:clr>
        </p15:guide>
        <p15:guide id="2" pos="617">
          <p15:clr>
            <a:srgbClr val="FBAE40"/>
          </p15:clr>
        </p15:guide>
        <p15:guide id="3" pos="12047">
          <p15:clr>
            <a:srgbClr val="FBAE40"/>
          </p15:clr>
        </p15:guide>
        <p15:guide id="4" orient="horz" pos="6313">
          <p15:clr>
            <a:srgbClr val="FBAE40"/>
          </p15:clr>
        </p15:guide>
        <p15:guide id="5" orient="horz" pos="87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470452"/>
            <a:ext cx="6433312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SM - KSN - Routing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470452"/>
            <a:ext cx="4623943" cy="5629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  <p:sp>
        <p:nvSpPr>
          <p:cNvPr id="33" name="object 3">
            <a:extLst>
              <a:ext uri="{FF2B5EF4-FFF2-40B4-BE49-F238E27FC236}">
                <a16:creationId xmlns:a16="http://schemas.microsoft.com/office/drawing/2014/main" id="{FB6FE013-D504-22CE-C6F6-3BAF6D319F64}"/>
              </a:ext>
            </a:extLst>
          </p:cNvPr>
          <p:cNvSpPr/>
          <p:nvPr userDrawn="1"/>
        </p:nvSpPr>
        <p:spPr>
          <a:xfrm>
            <a:off x="13927200" y="732731"/>
            <a:ext cx="6183250" cy="555179"/>
          </a:xfrm>
          <a:custGeom>
            <a:avLst/>
            <a:gdLst/>
            <a:ahLst/>
            <a:cxnLst/>
            <a:rect l="l" t="t" r="r" b="b"/>
            <a:pathLst>
              <a:path w="6217284" h="529590">
                <a:moveTo>
                  <a:pt x="6216742" y="0"/>
                </a:moveTo>
                <a:lnTo>
                  <a:pt x="0" y="0"/>
                </a:lnTo>
                <a:lnTo>
                  <a:pt x="0" y="529282"/>
                </a:lnTo>
                <a:lnTo>
                  <a:pt x="6216742" y="529282"/>
                </a:lnTo>
                <a:lnTo>
                  <a:pt x="6216742" y="0"/>
                </a:lnTo>
                <a:close/>
              </a:path>
            </a:pathLst>
          </a:custGeom>
          <a:solidFill>
            <a:srgbClr val="A2CB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DEDCF36A-E1E5-5EE1-FC3F-CCA11CC94BCD}"/>
              </a:ext>
            </a:extLst>
          </p:cNvPr>
          <p:cNvSpPr txBox="1"/>
          <p:nvPr userDrawn="1"/>
        </p:nvSpPr>
        <p:spPr>
          <a:xfrm>
            <a:off x="13927200" y="821289"/>
            <a:ext cx="5220444" cy="415498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/>
            <a:r>
              <a:rPr lang="de-AT" sz="2100" b="1">
                <a:solidFill>
                  <a:srgbClr val="102D41"/>
                </a:solidFill>
                <a:latin typeface="+mj-lt"/>
                <a:cs typeface="Leelawadee UI"/>
              </a:rPr>
              <a:t>ELEKTRONIK &amp; TECHN. INFORMATIK</a:t>
            </a:r>
            <a:endParaRPr lang="de-AT" sz="2100">
              <a:latin typeface="+mj-lt"/>
            </a:endParaRPr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5F82143-27DA-A1B9-1A87-1A4A89BC7AD1}"/>
              </a:ext>
            </a:extLst>
          </p:cNvPr>
          <p:cNvCxnSpPr>
            <a:cxnSpLocks/>
          </p:cNvCxnSpPr>
          <p:nvPr userDrawn="1"/>
        </p:nvCxnSpPr>
        <p:spPr>
          <a:xfrm>
            <a:off x="13396199" y="660723"/>
            <a:ext cx="669970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F88B8960-CD3E-2A6D-71E7-48B1EAEC8317}"/>
              </a:ext>
            </a:extLst>
          </p:cNvPr>
          <p:cNvCxnSpPr>
            <a:cxnSpLocks/>
          </p:cNvCxnSpPr>
          <p:nvPr userDrawn="1"/>
        </p:nvCxnSpPr>
        <p:spPr>
          <a:xfrm flipV="1">
            <a:off x="13775847" y="84659"/>
            <a:ext cx="0" cy="119574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">
            <a:extLst>
              <a:ext uri="{FF2B5EF4-FFF2-40B4-BE49-F238E27FC236}">
                <a16:creationId xmlns:a16="http://schemas.microsoft.com/office/drawing/2014/main" id="{59842796-8DCE-3B49-27A3-17AF2CDF3E19}"/>
              </a:ext>
            </a:extLst>
          </p:cNvPr>
          <p:cNvSpPr txBox="1"/>
          <p:nvPr userDrawn="1"/>
        </p:nvSpPr>
        <p:spPr>
          <a:xfrm>
            <a:off x="17560919" y="228675"/>
            <a:ext cx="2198068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39" algn="r">
              <a:lnSpc>
                <a:spcPct val="100000"/>
              </a:lnSpc>
              <a:spcBef>
                <a:spcPts val="111"/>
              </a:spcBef>
            </a:pPr>
            <a:r>
              <a:rPr sz="2100" spc="-11">
                <a:solidFill>
                  <a:schemeClr val="bg1"/>
                </a:solidFill>
                <a:latin typeface="+mj-lt"/>
                <a:cs typeface="Leelawadee UI"/>
              </a:rPr>
              <a:t>www.bulme.at</a:t>
            </a:r>
            <a:endParaRPr sz="2100">
              <a:solidFill>
                <a:schemeClr val="bg1"/>
              </a:solidFill>
              <a:latin typeface="+mj-lt"/>
              <a:cs typeface="Leelawadee UI"/>
            </a:endParaRPr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18025832-1D3C-130E-7A27-4E6ADCEC9B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3940482" y="108147"/>
            <a:ext cx="1717842" cy="469770"/>
            <a:chOff x="375183" y="375193"/>
            <a:chExt cx="3730981" cy="1020294"/>
          </a:xfrm>
        </p:grpSpPr>
        <p:sp>
          <p:nvSpPr>
            <p:cNvPr id="41" name="bg object 17">
              <a:extLst>
                <a:ext uri="{FF2B5EF4-FFF2-40B4-BE49-F238E27FC236}">
                  <a16:creationId xmlns:a16="http://schemas.microsoft.com/office/drawing/2014/main" id="{30A358C3-68EB-2DD7-EA23-AA1D42BF0265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bg object 18">
              <a:extLst>
                <a:ext uri="{FF2B5EF4-FFF2-40B4-BE49-F238E27FC236}">
                  <a16:creationId xmlns:a16="http://schemas.microsoft.com/office/drawing/2014/main" id="{3FADF484-D5C3-1AE1-920B-8B05F325DC9B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bg object 19">
              <a:extLst>
                <a:ext uri="{FF2B5EF4-FFF2-40B4-BE49-F238E27FC236}">
                  <a16:creationId xmlns:a16="http://schemas.microsoft.com/office/drawing/2014/main" id="{C8B777A6-F5C8-6AED-1191-32ED4328D06A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bg object 20">
              <a:extLst>
                <a:ext uri="{FF2B5EF4-FFF2-40B4-BE49-F238E27FC236}">
                  <a16:creationId xmlns:a16="http://schemas.microsoft.com/office/drawing/2014/main" id="{E4CE7C21-B0F0-A5AB-8C55-F34B2908157E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45" name="bg object 21">
              <a:extLst>
                <a:ext uri="{FF2B5EF4-FFF2-40B4-BE49-F238E27FC236}">
                  <a16:creationId xmlns:a16="http://schemas.microsoft.com/office/drawing/2014/main" id="{D3C77984-E08F-38EB-6909-26AF349DBF43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46" name="bg object 22">
              <a:extLst>
                <a:ext uri="{FF2B5EF4-FFF2-40B4-BE49-F238E27FC236}">
                  <a16:creationId xmlns:a16="http://schemas.microsoft.com/office/drawing/2014/main" id="{E6429977-519D-51EA-142F-D73EF30B85A2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47" name="bg object 23">
              <a:extLst>
                <a:ext uri="{FF2B5EF4-FFF2-40B4-BE49-F238E27FC236}">
                  <a16:creationId xmlns:a16="http://schemas.microsoft.com/office/drawing/2014/main" id="{B2940E80-47E8-9690-477A-EA951014314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bg object 24">
              <a:extLst>
                <a:ext uri="{FF2B5EF4-FFF2-40B4-BE49-F238E27FC236}">
                  <a16:creationId xmlns:a16="http://schemas.microsoft.com/office/drawing/2014/main" id="{A9003A24-7E7F-C8B4-E503-A18F1DAEBEF6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49" name="bg object 25">
              <a:extLst>
                <a:ext uri="{FF2B5EF4-FFF2-40B4-BE49-F238E27FC236}">
                  <a16:creationId xmlns:a16="http://schemas.microsoft.com/office/drawing/2014/main" id="{6EB07E71-CAD2-F07E-6D22-9B41591D1D3B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50" name="bg object 26">
              <a:extLst>
                <a:ext uri="{FF2B5EF4-FFF2-40B4-BE49-F238E27FC236}">
                  <a16:creationId xmlns:a16="http://schemas.microsoft.com/office/drawing/2014/main" id="{B5CDF13B-9710-E692-1560-5C79A3158E8C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bg object 27">
              <a:extLst>
                <a:ext uri="{FF2B5EF4-FFF2-40B4-BE49-F238E27FC236}">
                  <a16:creationId xmlns:a16="http://schemas.microsoft.com/office/drawing/2014/main" id="{F3EB3B7D-B609-1C49-586F-C9279AB1E759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g object 28">
              <a:extLst>
                <a:ext uri="{FF2B5EF4-FFF2-40B4-BE49-F238E27FC236}">
                  <a16:creationId xmlns:a16="http://schemas.microsoft.com/office/drawing/2014/main" id="{1525DD8A-074A-BB48-4B3B-E927D85F7870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bg object 29">
              <a:extLst>
                <a:ext uri="{FF2B5EF4-FFF2-40B4-BE49-F238E27FC236}">
                  <a16:creationId xmlns:a16="http://schemas.microsoft.com/office/drawing/2014/main" id="{E13C8EF9-CFD9-0A76-8416-2DF558944C7B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bg object 30">
              <a:extLst>
                <a:ext uri="{FF2B5EF4-FFF2-40B4-BE49-F238E27FC236}">
                  <a16:creationId xmlns:a16="http://schemas.microsoft.com/office/drawing/2014/main" id="{B502069D-FC2E-ADD8-BA23-6F27B7147F5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bg object 31">
              <a:extLst>
                <a:ext uri="{FF2B5EF4-FFF2-40B4-BE49-F238E27FC236}">
                  <a16:creationId xmlns:a16="http://schemas.microsoft.com/office/drawing/2014/main" id="{12753668-0BBF-48EC-717A-2E2475925325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Grafik 57" descr="Ein Bild, das Screenshot, Grafiken, Design enthält.&#10;&#10;Automatisch generierte Beschreibung">
            <a:extLst>
              <a:ext uri="{FF2B5EF4-FFF2-40B4-BE49-F238E27FC236}">
                <a16:creationId xmlns:a16="http://schemas.microsoft.com/office/drawing/2014/main" id="{F8155F6A-2BCA-6E7C-1DB3-4A3CAD2E8321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2400" y="774000"/>
            <a:ext cx="481091" cy="47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95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3" r:id="rId2"/>
    <p:sldLayoutId id="2147483712" r:id="rId3"/>
    <p:sldLayoutId id="2147483694" r:id="rId4"/>
    <p:sldLayoutId id="2147483709" r:id="rId5"/>
    <p:sldLayoutId id="2147483710" r:id="rId6"/>
    <p:sldLayoutId id="2147483695" r:id="rId7"/>
    <p:sldLayoutId id="2147483696" r:id="rId8"/>
    <p:sldLayoutId id="2147483697" r:id="rId9"/>
    <p:sldLayoutId id="2147483714" r:id="rId10"/>
    <p:sldLayoutId id="2147483715" r:id="rId11"/>
    <p:sldLayoutId id="2147483716" r:id="rId12"/>
    <p:sldLayoutId id="2147483718" r:id="rId13"/>
    <p:sldLayoutId id="2147483719" r:id="rId14"/>
    <p:sldLayoutId id="2147483720" r:id="rId15"/>
    <p:sldLayoutId id="2147483721" r:id="rId16"/>
  </p:sldLayoutIdLst>
  <p:hf hdr="0" dt="0"/>
  <p:txStyles>
    <p:titleStyle>
      <a:lvl1pPr eaLnBrk="1" hangingPunct="1">
        <a:defRPr>
          <a:solidFill>
            <a:srgbClr val="00B050"/>
          </a:solidFill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01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Keyword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PyTorch Model Development &amp; WebApp Showcase</a:t>
            </a:r>
          </a:p>
          <a:p>
            <a:r>
              <a:t>Mathias Kornschober | School Project Presentation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Mathias Kornschober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Einleitung - Big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b="1" dirty="0" err="1"/>
              <a:t>Projektziel</a:t>
            </a:r>
            <a:r>
              <a:rPr b="1" dirty="0"/>
              <a:t>: </a:t>
            </a:r>
            <a:endParaRPr lang="en-GB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 err="1"/>
              <a:t>Entwicklung</a:t>
            </a:r>
            <a:r>
              <a:rPr sz="2800" dirty="0"/>
              <a:t> </a:t>
            </a:r>
            <a:r>
              <a:rPr sz="2800" dirty="0" err="1"/>
              <a:t>einer</a:t>
            </a:r>
            <a:r>
              <a:rPr sz="2800" dirty="0"/>
              <a:t> </a:t>
            </a:r>
            <a:r>
              <a:rPr sz="2800" dirty="0" err="1"/>
              <a:t>echtzeitfähigen</a:t>
            </a:r>
            <a:r>
              <a:rPr sz="2800" dirty="0"/>
              <a:t> </a:t>
            </a:r>
            <a:r>
              <a:rPr sz="2800" dirty="0" err="1"/>
              <a:t>Sprachsteuerung</a:t>
            </a:r>
            <a:r>
              <a:rPr sz="2800" dirty="0"/>
              <a:t> (Keywords: 'yes', 'no', 'up', 'down', 'other') 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b="1" dirty="0" err="1"/>
              <a:t>Arbeitsteilung</a:t>
            </a:r>
            <a:r>
              <a:rPr b="1" dirty="0"/>
              <a:t>: </a:t>
            </a:r>
            <a:endParaRPr lang="en-GB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 err="1"/>
              <a:t>Gemeinsame</a:t>
            </a:r>
            <a:r>
              <a:rPr sz="2800" dirty="0"/>
              <a:t> </a:t>
            </a:r>
            <a:r>
              <a:rPr sz="2800" dirty="0" err="1"/>
              <a:t>Konzeption</a:t>
            </a:r>
            <a:r>
              <a:rPr sz="2800" dirty="0"/>
              <a:t> und </a:t>
            </a:r>
            <a:r>
              <a:rPr sz="2800" dirty="0" err="1"/>
              <a:t>Datensatzerstellung</a:t>
            </a:r>
            <a:r>
              <a:rPr sz="2800" dirty="0"/>
              <a:t>. Kollege (</a:t>
            </a:r>
            <a:r>
              <a:rPr lang="en-GB" sz="2800" dirty="0"/>
              <a:t>Dominik</a:t>
            </a:r>
            <a:r>
              <a:rPr sz="2800" dirty="0"/>
              <a:t>) </a:t>
            </a:r>
            <a:r>
              <a:rPr sz="2800" dirty="0" err="1"/>
              <a:t>erstellte</a:t>
            </a:r>
            <a:r>
              <a:rPr sz="2800" dirty="0"/>
              <a:t> das TensorFlow-Modell.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b="1" dirty="0"/>
              <a:t>Mein </a:t>
            </a:r>
            <a:r>
              <a:rPr b="1" dirty="0" err="1"/>
              <a:t>Fokus</a:t>
            </a:r>
            <a:r>
              <a:rPr b="1" dirty="0"/>
              <a:t>: </a:t>
            </a:r>
            <a:endParaRPr lang="en-GB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/>
              <a:t>Aufbau der </a:t>
            </a:r>
            <a:r>
              <a:rPr sz="2800" dirty="0" err="1"/>
              <a:t>kompletten</a:t>
            </a:r>
            <a:r>
              <a:rPr sz="2800" dirty="0"/>
              <a:t> </a:t>
            </a:r>
            <a:r>
              <a:rPr sz="2800" dirty="0" err="1"/>
              <a:t>PyTorch</a:t>
            </a:r>
            <a:r>
              <a:rPr sz="2800" dirty="0"/>
              <a:t>-Modell-Pipeline (</a:t>
            </a:r>
            <a:r>
              <a:rPr sz="2800" dirty="0" err="1"/>
              <a:t>Datenauswertung</a:t>
            </a:r>
            <a:r>
              <a:rPr sz="2800" dirty="0"/>
              <a:t>, </a:t>
            </a:r>
            <a:r>
              <a:rPr sz="2800" dirty="0" err="1"/>
              <a:t>Trainingsläufe</a:t>
            </a:r>
            <a:r>
              <a:rPr sz="2800" dirty="0"/>
              <a:t>, </a:t>
            </a:r>
            <a:r>
              <a:rPr sz="2800" dirty="0" err="1"/>
              <a:t>Validierung</a:t>
            </a:r>
            <a:r>
              <a:rPr sz="2800" dirty="0"/>
              <a:t>, ONNX-Export).</a:t>
            </a:r>
            <a:endParaRPr lang="en-GB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b="1" dirty="0"/>
              <a:t>Bonus:</a:t>
            </a:r>
            <a:r>
              <a:rPr dirty="0"/>
              <a:t> </a:t>
            </a:r>
            <a:endParaRPr lang="en-GB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800" dirty="0" err="1"/>
              <a:t>Aufgrund</a:t>
            </a:r>
            <a:r>
              <a:rPr sz="2800" dirty="0"/>
              <a:t> </a:t>
            </a:r>
            <a:r>
              <a:rPr sz="2800" dirty="0" err="1"/>
              <a:t>schnellerer</a:t>
            </a:r>
            <a:r>
              <a:rPr sz="2800" dirty="0"/>
              <a:t> </a:t>
            </a:r>
            <a:r>
              <a:rPr sz="2800" dirty="0" err="1"/>
              <a:t>Fertigstellung</a:t>
            </a:r>
            <a:r>
              <a:rPr sz="2800" dirty="0"/>
              <a:t> des </a:t>
            </a:r>
            <a:r>
              <a:rPr sz="2800" dirty="0" err="1"/>
              <a:t>PyTorch-Modells</a:t>
            </a:r>
            <a:r>
              <a:rPr sz="2800" dirty="0"/>
              <a:t> </a:t>
            </a:r>
            <a:r>
              <a:rPr sz="2800" dirty="0" err="1"/>
              <a:t>habe</a:t>
            </a:r>
            <a:r>
              <a:rPr sz="2800" dirty="0"/>
              <a:t> ich </a:t>
            </a:r>
            <a:r>
              <a:rPr sz="2800" dirty="0" err="1"/>
              <a:t>zusätzlich</a:t>
            </a:r>
            <a:r>
              <a:rPr sz="2800" dirty="0"/>
              <a:t> das </a:t>
            </a:r>
            <a:r>
              <a:rPr sz="2800" dirty="0" err="1"/>
              <a:t>vollständige</a:t>
            </a:r>
            <a:r>
              <a:rPr sz="2800" dirty="0"/>
              <a:t> Electron-Frontend </a:t>
            </a:r>
            <a:r>
              <a:rPr sz="2800" dirty="0" err="1"/>
              <a:t>sowie</a:t>
            </a:r>
            <a:r>
              <a:rPr sz="2800" dirty="0"/>
              <a:t> die Voice Arcade </a:t>
            </a:r>
            <a:r>
              <a:rPr sz="2800" dirty="0" err="1"/>
              <a:t>Spiele</a:t>
            </a:r>
            <a:r>
              <a:rPr sz="2800" dirty="0"/>
              <a:t> </a:t>
            </a:r>
            <a:r>
              <a:rPr sz="2800" dirty="0" err="1"/>
              <a:t>implementier</a:t>
            </a:r>
            <a:r>
              <a:rPr lang="en-GB" sz="2800" dirty="0"/>
              <a:t>t.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8712522" cy="75608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b="1" dirty="0"/>
              <a:t>Erreicht</a:t>
            </a:r>
          </a:p>
          <a:p>
            <a:pPr>
              <a:lnSpc>
                <a:spcPct val="100000"/>
              </a:lnSpc>
            </a:pPr>
            <a:endParaRPr sz="1400" b="1" dirty="0"/>
          </a:p>
          <a:p>
            <a:pPr>
              <a:lnSpc>
                <a:spcPct val="100000"/>
              </a:lnSpc>
            </a:pPr>
            <a:endParaRPr sz="1400" b="1" dirty="0"/>
          </a:p>
          <a:p>
            <a:pPr>
              <a:lnSpc>
                <a:spcPct val="100000"/>
              </a:lnSpc>
            </a:pPr>
            <a:endParaRPr sz="1400" b="1" dirty="0"/>
          </a:p>
          <a:p>
            <a:pPr>
              <a:lnSpc>
                <a:spcPct val="100000"/>
              </a:lnSpc>
            </a:pPr>
            <a:r>
              <a:rPr sz="2800" dirty="0"/>
              <a:t>  - Zuverlässiges PyTorch-Modell mit 98,37% Genauigkeit.</a:t>
            </a:r>
          </a:p>
          <a:p>
            <a:pPr>
              <a:lnSpc>
                <a:spcPct val="100000"/>
              </a:lnSpc>
            </a:pPr>
            <a:endParaRPr lang="de-AT" sz="1400" dirty="0"/>
          </a:p>
          <a:p>
            <a:pPr>
              <a:lnSpc>
                <a:spcPct val="100000"/>
              </a:lnSpc>
            </a:pPr>
            <a:r>
              <a:rPr lang="de-AT" sz="2800" dirty="0"/>
              <a:t>  - Optimiertes Training auf GPU und CPU</a:t>
            </a:r>
          </a:p>
          <a:p>
            <a:pPr>
              <a:lnSpc>
                <a:spcPct val="100000"/>
              </a:lnSpc>
            </a:pPr>
            <a:endParaRPr lang="de-AT" sz="1400" dirty="0"/>
          </a:p>
          <a:p>
            <a:pPr marL="444500" indent="-444500">
              <a:lnSpc>
                <a:spcPct val="100000"/>
              </a:lnSpc>
            </a:pPr>
            <a:r>
              <a:rPr sz="2800" dirty="0"/>
              <a:t>  - Stabiler ONNX-Export für die plattformunabhängige   Ausführung.</a:t>
            </a:r>
          </a:p>
          <a:p>
            <a:pPr>
              <a:lnSpc>
                <a:spcPct val="100000"/>
              </a:lnSpc>
            </a:pPr>
            <a:endParaRPr sz="1400" dirty="0"/>
          </a:p>
          <a:p>
            <a:pPr>
              <a:lnSpc>
                <a:spcPct val="100000"/>
              </a:lnSpc>
            </a:pPr>
            <a:r>
              <a:rPr sz="2800" dirty="0"/>
              <a:t>  - Post-Inference Rausch- und Stille-Filter </a:t>
            </a:r>
          </a:p>
          <a:p>
            <a:pPr>
              <a:lnSpc>
                <a:spcPct val="100000"/>
              </a:lnSpc>
            </a:pPr>
            <a:endParaRPr sz="1400" dirty="0"/>
          </a:p>
          <a:p>
            <a:pPr marL="444500" indent="-444500">
              <a:lnSpc>
                <a:spcPct val="100000"/>
              </a:lnSpc>
            </a:pPr>
            <a:r>
              <a:rPr sz="2800" dirty="0"/>
              <a:t>  - Vollwertige Desktop-App mit Visualisierungen und 5 spielbaren Arcade-Games.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b="1" dirty="0"/>
              <a:t>Nicht </a:t>
            </a:r>
            <a:r>
              <a:rPr b="1" dirty="0" err="1"/>
              <a:t>erreicht</a:t>
            </a:r>
            <a:r>
              <a:rPr b="1" dirty="0"/>
              <a:t> / </a:t>
            </a:r>
            <a:r>
              <a:rPr b="1" dirty="0" err="1"/>
              <a:t>Einschränkungen</a:t>
            </a:r>
            <a:r>
              <a:rPr b="1" dirty="0"/>
              <a:t>:</a:t>
            </a:r>
            <a:endParaRPr lang="en-GB" b="1" dirty="0"/>
          </a:p>
          <a:p>
            <a:pPr>
              <a:lnSpc>
                <a:spcPct val="100000"/>
              </a:lnSpc>
            </a:pPr>
            <a:endParaRPr lang="en-GB" sz="1400" b="1" dirty="0"/>
          </a:p>
          <a:p>
            <a:pPr>
              <a:lnSpc>
                <a:spcPct val="100000"/>
              </a:lnSpc>
            </a:pPr>
            <a:endParaRPr lang="en-GB" sz="1400" b="1" dirty="0"/>
          </a:p>
          <a:p>
            <a:pPr>
              <a:lnSpc>
                <a:spcPct val="100000"/>
              </a:lnSpc>
            </a:pPr>
            <a:endParaRPr sz="1400" b="1" dirty="0"/>
          </a:p>
          <a:p>
            <a:pPr marL="444500" indent="-444500">
              <a:lnSpc>
                <a:spcPct val="100000"/>
              </a:lnSpc>
            </a:pPr>
            <a:r>
              <a:rPr sz="2800" dirty="0"/>
              <a:t>  -</a:t>
            </a:r>
            <a:r>
              <a:rPr lang="de-AT" sz="2800" dirty="0"/>
              <a:t> 100% Genauigkeit des PyTorch Modelles</a:t>
            </a:r>
          </a:p>
          <a:p>
            <a:pPr>
              <a:lnSpc>
                <a:spcPct val="100000"/>
              </a:lnSpc>
            </a:pPr>
            <a:endParaRPr lang="de-AT" sz="1400" dirty="0"/>
          </a:p>
          <a:p>
            <a:pPr marL="444500" indent="-444500">
              <a:lnSpc>
                <a:spcPct val="100000"/>
              </a:lnSpc>
            </a:pPr>
            <a:r>
              <a:rPr lang="de-AT" sz="2800" dirty="0"/>
              <a:t>  - Background Noise Reduction Filter um weniger False-Positives zu haben</a:t>
            </a:r>
          </a:p>
          <a:p>
            <a:pPr>
              <a:lnSpc>
                <a:spcPct val="100000"/>
              </a:lnSpc>
            </a:pPr>
            <a:endParaRPr lang="de-AT" sz="1400" dirty="0"/>
          </a:p>
          <a:p>
            <a:pPr marL="444500" indent="-444500">
              <a:lnSpc>
                <a:spcPct val="100000"/>
              </a:lnSpc>
            </a:pPr>
            <a:r>
              <a:rPr sz="2800" dirty="0"/>
              <a:t>  - </a:t>
            </a:r>
            <a:r>
              <a:rPr sz="2800" dirty="0" err="1"/>
              <a:t>Extrem</a:t>
            </a:r>
            <a:r>
              <a:rPr sz="2800" dirty="0"/>
              <a:t> </a:t>
            </a:r>
            <a:r>
              <a:rPr sz="2800" dirty="0" err="1"/>
              <a:t>leise</a:t>
            </a:r>
            <a:r>
              <a:rPr sz="2800" dirty="0"/>
              <a:t> </a:t>
            </a:r>
            <a:r>
              <a:rPr lang="en-GB" sz="2800" dirty="0" err="1"/>
              <a:t>Eingaben</a:t>
            </a:r>
            <a:r>
              <a:rPr sz="2800" dirty="0"/>
              <a:t> </a:t>
            </a:r>
            <a:r>
              <a:rPr sz="2800" dirty="0" err="1"/>
              <a:t>werden</a:t>
            </a:r>
            <a:r>
              <a:rPr sz="2800" dirty="0"/>
              <a:t> </a:t>
            </a:r>
            <a:r>
              <a:rPr sz="2800" dirty="0" err="1"/>
              <a:t>teilweise</a:t>
            </a:r>
            <a:r>
              <a:rPr sz="2800" dirty="0"/>
              <a:t> </a:t>
            </a:r>
            <a:r>
              <a:rPr sz="2800" dirty="0" err="1"/>
              <a:t>durch</a:t>
            </a:r>
            <a:r>
              <a:rPr sz="2800" dirty="0"/>
              <a:t> den</a:t>
            </a:r>
            <a:r>
              <a:rPr lang="en-GB" sz="2800" dirty="0"/>
              <a:t> </a:t>
            </a:r>
            <a:r>
              <a:rPr sz="2800" dirty="0" err="1"/>
              <a:t>Stillefilter</a:t>
            </a:r>
            <a:r>
              <a:rPr sz="2800" dirty="0"/>
              <a:t> </a:t>
            </a:r>
            <a:r>
              <a:rPr sz="2800" dirty="0" err="1"/>
              <a:t>abgeschnitten</a:t>
            </a:r>
            <a:r>
              <a:rPr sz="2800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wurde erreicht / nicht erreicht?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Grundlagen: Log-Mel Spektrogramme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3600" b="1" dirty="0" err="1"/>
              <a:t>Warum</a:t>
            </a:r>
            <a:r>
              <a:rPr sz="3600" b="1" dirty="0"/>
              <a:t> </a:t>
            </a:r>
            <a:r>
              <a:rPr sz="3600" b="1" dirty="0" err="1"/>
              <a:t>Spektrogramme</a:t>
            </a:r>
            <a:r>
              <a:rPr sz="3600" b="1" dirty="0"/>
              <a:t>? </a:t>
            </a:r>
            <a:endParaRPr lang="en-GB" sz="3600" b="1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/>
              <a:t>Einfache</a:t>
            </a:r>
            <a:r>
              <a:rPr lang="en-GB" dirty="0"/>
              <a:t> </a:t>
            </a:r>
            <a:r>
              <a:rPr lang="en-GB" dirty="0" err="1"/>
              <a:t>Umwandlung</a:t>
            </a:r>
            <a:r>
              <a:rPr lang="en-GB" dirty="0"/>
              <a:t> der </a:t>
            </a:r>
            <a:r>
              <a:rPr lang="en-GB" dirty="0" err="1"/>
              <a:t>Audiodateien</a:t>
            </a:r>
            <a:r>
              <a:rPr lang="en-GB" dirty="0"/>
              <a:t> und </a:t>
            </a:r>
            <a:r>
              <a:rPr lang="en-GB" dirty="0" err="1"/>
              <a:t>Verarbeitung</a:t>
            </a:r>
            <a:r>
              <a:rPr lang="en-GB" dirty="0"/>
              <a:t> via OpenCV</a:t>
            </a:r>
            <a:endParaRPr sz="36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3600" b="1" dirty="0" err="1"/>
              <a:t>Konfiguration</a:t>
            </a:r>
            <a:r>
              <a:rPr sz="3600" b="1" dirty="0"/>
              <a:t>: </a:t>
            </a:r>
            <a:endParaRPr lang="en-GB" sz="3600" b="1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/>
              <a:t>16 kHz Abtastrate, 400 Window-</a:t>
            </a:r>
            <a:r>
              <a:rPr dirty="0" err="1"/>
              <a:t>Größe</a:t>
            </a:r>
            <a:r>
              <a:rPr dirty="0"/>
              <a:t> (25ms), 160 Hop-Length (10ms </a:t>
            </a:r>
            <a:r>
              <a:rPr dirty="0" err="1"/>
              <a:t>Schrittweite</a:t>
            </a:r>
            <a:r>
              <a:rPr dirty="0"/>
              <a:t>), 64 Mel-</a:t>
            </a:r>
            <a:r>
              <a:rPr dirty="0" err="1"/>
              <a:t>Kanäle</a:t>
            </a:r>
            <a:r>
              <a:rPr dirty="0"/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3600" b="1" dirty="0" err="1"/>
              <a:t>Formänderung</a:t>
            </a:r>
            <a:r>
              <a:rPr sz="3600" b="1" dirty="0"/>
              <a:t>: </a:t>
            </a:r>
            <a:endParaRPr lang="en-GB" sz="3600" b="1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 err="1"/>
              <a:t>Abbildung</a:t>
            </a:r>
            <a:r>
              <a:rPr dirty="0"/>
              <a:t> von 1D-Audio auf 2D-Bildmatrix</a:t>
            </a:r>
            <a:endParaRPr lang="de-AT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AT" sz="3600" b="1" dirty="0"/>
              <a:t>Lerneffekt für mich: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dirty="0"/>
              <a:t>Audio-Feature-Extraction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gleich</a:t>
            </a:r>
            <a:r>
              <a:rPr lang="en-GB" dirty="0"/>
              <a:t> </a:t>
            </a:r>
            <a:r>
              <a:rPr lang="en-GB" dirty="0" err="1"/>
              <a:t>wichtig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Audio-KI</a:t>
            </a:r>
            <a:r>
              <a:rPr lang="en-GB" dirty="0"/>
              <a:t> </a:t>
            </a:r>
            <a:r>
              <a:rPr lang="en-GB" dirty="0" err="1"/>
              <a:t>wie</a:t>
            </a:r>
            <a:r>
              <a:rPr lang="en-GB" dirty="0"/>
              <a:t> </a:t>
            </a:r>
            <a:r>
              <a:rPr dirty="0"/>
              <a:t>das Modell </a:t>
            </a:r>
            <a:r>
              <a:rPr dirty="0" err="1"/>
              <a:t>selbst</a:t>
            </a:r>
            <a:r>
              <a:rPr dirty="0"/>
              <a:t>.</a:t>
            </a:r>
            <a:endParaRPr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Do's &amp; Don'ts </a:t>
            </a:r>
            <a:r>
              <a:rPr dirty="0" err="1"/>
              <a:t>bei</a:t>
            </a:r>
            <a:r>
              <a:rPr dirty="0"/>
              <a:t> Audio-Deep-Learning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DO's:</a:t>
            </a:r>
          </a:p>
          <a:p>
            <a:pPr>
              <a:lnSpc>
                <a:spcPct val="150000"/>
              </a:lnSpc>
            </a:pPr>
            <a:r>
              <a:rPr dirty="0"/>
              <a:t>  </a:t>
            </a:r>
            <a:r>
              <a:rPr sz="2800" dirty="0"/>
              <a:t>- </a:t>
            </a:r>
            <a:r>
              <a:rPr sz="2800" dirty="0" err="1"/>
              <a:t>Aufteilungen</a:t>
            </a:r>
            <a:r>
              <a:rPr sz="2800" dirty="0"/>
              <a:t> </a:t>
            </a:r>
            <a:r>
              <a:rPr lang="de-AT" sz="2800" dirty="0"/>
              <a:t>(Train/Val/Test) </a:t>
            </a:r>
            <a:r>
              <a:rPr sz="2800" dirty="0" err="1"/>
              <a:t>nutzen</a:t>
            </a:r>
            <a:r>
              <a:rPr sz="2800" dirty="0"/>
              <a:t>, um </a:t>
            </a:r>
            <a:r>
              <a:rPr sz="2800" dirty="0" err="1"/>
              <a:t>Klassenverhältnisse</a:t>
            </a:r>
            <a:r>
              <a:rPr sz="2800" dirty="0"/>
              <a:t> </a:t>
            </a:r>
            <a:r>
              <a:rPr sz="2800" dirty="0" err="1"/>
              <a:t>beizubehalten</a:t>
            </a:r>
            <a:r>
              <a:rPr sz="2800" dirty="0"/>
              <a:t>.</a:t>
            </a:r>
          </a:p>
          <a:p>
            <a:pPr>
              <a:lnSpc>
                <a:spcPct val="150000"/>
              </a:lnSpc>
            </a:pPr>
            <a:r>
              <a:rPr sz="2800" dirty="0"/>
              <a:t>  - </a:t>
            </a:r>
            <a:r>
              <a:rPr sz="2800" dirty="0" err="1"/>
              <a:t>Augmentationen</a:t>
            </a:r>
            <a:r>
              <a:rPr sz="2800" dirty="0"/>
              <a:t> (</a:t>
            </a:r>
            <a:r>
              <a:rPr lang="en-GB" sz="2800" dirty="0" err="1"/>
              <a:t>Zeitverschiebung</a:t>
            </a:r>
            <a:r>
              <a:rPr lang="en-GB" sz="2800" dirty="0"/>
              <a:t>, Background-Noise, Leiser/Lauter</a:t>
            </a:r>
            <a:r>
              <a:rPr sz="2800" dirty="0"/>
              <a:t>).</a:t>
            </a:r>
          </a:p>
          <a:p>
            <a:pPr>
              <a:lnSpc>
                <a:spcPct val="150000"/>
              </a:lnSpc>
            </a:pPr>
            <a:r>
              <a:rPr sz="2800" dirty="0"/>
              <a:t>  - </a:t>
            </a:r>
            <a:r>
              <a:rPr lang="en-GB" sz="2800" dirty="0"/>
              <a:t>Early-Stopping</a:t>
            </a:r>
            <a:r>
              <a:rPr sz="2800" dirty="0"/>
              <a:t> </a:t>
            </a:r>
            <a:r>
              <a:rPr sz="2800" dirty="0" err="1"/>
              <a:t>verwenden</a:t>
            </a:r>
            <a:r>
              <a:rPr sz="2800" dirty="0"/>
              <a:t>, um Overfitting am Ende des Trainings </a:t>
            </a:r>
            <a:r>
              <a:rPr sz="2800" dirty="0" err="1"/>
              <a:t>abzufangen</a:t>
            </a:r>
            <a:r>
              <a:rPr sz="2800" dirty="0"/>
              <a:t>.</a:t>
            </a:r>
            <a:endParaRPr lang="en-GB" sz="2800" dirty="0"/>
          </a:p>
          <a:p>
            <a:pPr>
              <a:lnSpc>
                <a:spcPct val="150000"/>
              </a:lnSpc>
            </a:pPr>
            <a:endParaRPr sz="2800" dirty="0"/>
          </a:p>
          <a:p>
            <a:r>
              <a:rPr b="1" dirty="0"/>
              <a:t>DON'Ts</a:t>
            </a:r>
            <a:r>
              <a:rPr lang="en-GB" b="1" dirty="0"/>
              <a:t>:</a:t>
            </a:r>
            <a:endParaRPr b="1" dirty="0"/>
          </a:p>
          <a:p>
            <a:pPr>
              <a:lnSpc>
                <a:spcPct val="150000"/>
              </a:lnSpc>
            </a:pPr>
            <a:r>
              <a:rPr dirty="0"/>
              <a:t>  </a:t>
            </a:r>
            <a:r>
              <a:rPr sz="2800" dirty="0"/>
              <a:t>- </a:t>
            </a:r>
            <a:r>
              <a:rPr sz="2800" dirty="0" err="1"/>
              <a:t>Rohdaten</a:t>
            </a:r>
            <a:r>
              <a:rPr sz="2800" dirty="0"/>
              <a:t> </a:t>
            </a:r>
            <a:r>
              <a:rPr sz="2800" dirty="0" err="1"/>
              <a:t>ungefiltert</a:t>
            </a:r>
            <a:r>
              <a:rPr sz="2800" dirty="0"/>
              <a:t> ins Training </a:t>
            </a:r>
            <a:r>
              <a:rPr sz="2800" dirty="0" err="1"/>
              <a:t>einspeisen</a:t>
            </a:r>
            <a:r>
              <a:rPr sz="2800" dirty="0"/>
              <a:t> (Stille, </a:t>
            </a:r>
            <a:r>
              <a:rPr sz="2800" dirty="0" err="1"/>
              <a:t>Rauschen</a:t>
            </a:r>
            <a:r>
              <a:rPr sz="2800" dirty="0"/>
              <a:t> </a:t>
            </a:r>
            <a:r>
              <a:rPr sz="2800" dirty="0" err="1"/>
              <a:t>oder</a:t>
            </a:r>
            <a:r>
              <a:rPr sz="2800" dirty="0"/>
              <a:t> </a:t>
            </a:r>
            <a:r>
              <a:rPr sz="2800" dirty="0" err="1"/>
              <a:t>korrupte</a:t>
            </a:r>
            <a:r>
              <a:rPr sz="2800" dirty="0"/>
              <a:t> </a:t>
            </a:r>
            <a:r>
              <a:rPr sz="2800" dirty="0" err="1"/>
              <a:t>Dateien</a:t>
            </a:r>
            <a:r>
              <a:rPr sz="2800" dirty="0"/>
              <a:t>).</a:t>
            </a:r>
          </a:p>
          <a:p>
            <a:pPr>
              <a:lnSpc>
                <a:spcPct val="150000"/>
              </a:lnSpc>
            </a:pPr>
            <a:r>
              <a:rPr sz="2800" dirty="0"/>
              <a:t>  - </a:t>
            </a:r>
            <a:r>
              <a:rPr sz="2800" dirty="0" err="1"/>
              <a:t>Audiodateien</a:t>
            </a:r>
            <a:r>
              <a:rPr sz="2800" dirty="0"/>
              <a:t> </a:t>
            </a:r>
            <a:r>
              <a:rPr sz="2800" dirty="0" err="1"/>
              <a:t>direkt</a:t>
            </a:r>
            <a:r>
              <a:rPr sz="2800" dirty="0"/>
              <a:t> </a:t>
            </a:r>
            <a:r>
              <a:rPr sz="2800" dirty="0" err="1"/>
              <a:t>während</a:t>
            </a:r>
            <a:r>
              <a:rPr sz="2800" dirty="0"/>
              <a:t> des </a:t>
            </a:r>
            <a:r>
              <a:rPr sz="2800" dirty="0" err="1"/>
              <a:t>Trainingloops</a:t>
            </a:r>
            <a:r>
              <a:rPr sz="2800" dirty="0"/>
              <a:t> von der </a:t>
            </a:r>
            <a:r>
              <a:rPr sz="2800" dirty="0" err="1"/>
              <a:t>Festplatte</a:t>
            </a:r>
            <a:r>
              <a:rPr sz="2800" dirty="0"/>
              <a:t> </a:t>
            </a:r>
            <a:r>
              <a:rPr sz="2800" dirty="0" err="1"/>
              <a:t>dekodieren</a:t>
            </a:r>
            <a:r>
              <a:rPr sz="2800" dirty="0"/>
              <a:t> (</a:t>
            </a:r>
            <a:r>
              <a:rPr lang="en-GB" sz="2800" dirty="0"/>
              <a:t>CPU Bottleneck</a:t>
            </a:r>
            <a:r>
              <a:rPr sz="2800" dirty="0"/>
              <a:t>).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lang="en-GB" sz="2800" dirty="0"/>
              <a:t>  - Keine “Other” </a:t>
            </a:r>
            <a:r>
              <a:rPr lang="en-GB" sz="2800" dirty="0" err="1"/>
              <a:t>Kategorie</a:t>
            </a:r>
            <a:endParaRPr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Modell-Optimierung (Läufe 1-7)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9488" y="1524819"/>
            <a:ext cx="18145570" cy="8784976"/>
          </a:xfrm>
        </p:spPr>
        <p:txBody>
          <a:bodyPr/>
          <a:lstStyle/>
          <a:p>
            <a:r>
              <a:rPr lang="en-GB" dirty="0"/>
              <a:t>  </a:t>
            </a:r>
            <a:r>
              <a:rPr dirty="0"/>
              <a:t>- Run 1 (95.68%): </a:t>
            </a:r>
            <a:r>
              <a:rPr dirty="0" err="1"/>
              <a:t>SpecAugment</a:t>
            </a:r>
            <a:r>
              <a:rPr dirty="0"/>
              <a:t>, </a:t>
            </a:r>
            <a:r>
              <a:rPr dirty="0" err="1"/>
              <a:t>Frequenz</a:t>
            </a:r>
            <a:r>
              <a:rPr dirty="0"/>
              <a:t>- &amp; </a:t>
            </a:r>
            <a:r>
              <a:rPr dirty="0" err="1"/>
              <a:t>Zeitmaskierung</a:t>
            </a:r>
            <a:r>
              <a:rPr dirty="0"/>
              <a:t> auf </a:t>
            </a:r>
            <a:r>
              <a:rPr dirty="0" err="1"/>
              <a:t>Spektrogrammen</a:t>
            </a:r>
            <a:endParaRPr dirty="0"/>
          </a:p>
          <a:p>
            <a:r>
              <a:rPr dirty="0"/>
              <a:t>  - Run 2 (96.15%): Audio-</a:t>
            </a:r>
            <a:r>
              <a:rPr dirty="0" err="1"/>
              <a:t>Augmentierung</a:t>
            </a:r>
            <a:r>
              <a:rPr dirty="0"/>
              <a:t>, </a:t>
            </a:r>
            <a:r>
              <a:rPr dirty="0" err="1"/>
              <a:t>zufällige</a:t>
            </a:r>
            <a:r>
              <a:rPr dirty="0"/>
              <a:t> </a:t>
            </a:r>
            <a:r>
              <a:rPr dirty="0" err="1"/>
              <a:t>Zeitverschiebung</a:t>
            </a:r>
            <a:r>
              <a:rPr dirty="0"/>
              <a:t> (+-100ms)</a:t>
            </a:r>
          </a:p>
          <a:p>
            <a:r>
              <a:rPr dirty="0"/>
              <a:t>  - Run 3 (95.68%): LR Scheduler, </a:t>
            </a:r>
            <a:r>
              <a:rPr dirty="0" err="1"/>
              <a:t>ReduceLROnPlateau</a:t>
            </a:r>
            <a:r>
              <a:rPr dirty="0"/>
              <a:t> </a:t>
            </a:r>
            <a:r>
              <a:rPr dirty="0" err="1"/>
              <a:t>bei</a:t>
            </a:r>
            <a:r>
              <a:rPr dirty="0"/>
              <a:t> </a:t>
            </a:r>
            <a:r>
              <a:rPr dirty="0" err="1"/>
              <a:t>stagnierender</a:t>
            </a:r>
            <a:r>
              <a:rPr dirty="0"/>
              <a:t> Validation-Acc</a:t>
            </a:r>
          </a:p>
          <a:p>
            <a:r>
              <a:rPr dirty="0"/>
              <a:t>  - Run 4 (53.95%): Batch </a:t>
            </a:r>
            <a:r>
              <a:rPr dirty="0" err="1"/>
              <a:t>Normalisierung</a:t>
            </a:r>
            <a:r>
              <a:rPr dirty="0"/>
              <a:t> </a:t>
            </a:r>
            <a:endParaRPr lang="en-GB" dirty="0"/>
          </a:p>
          <a:p>
            <a:r>
              <a:rPr lang="en-GB" dirty="0"/>
              <a:t>  </a:t>
            </a:r>
            <a:r>
              <a:rPr dirty="0"/>
              <a:t>- Run 5 (95.68%): Weight Decay, L2-Regularisierung </a:t>
            </a:r>
            <a:r>
              <a:rPr dirty="0" err="1"/>
              <a:t>gegen</a:t>
            </a:r>
            <a:r>
              <a:rPr dirty="0"/>
              <a:t> Overfitting</a:t>
            </a:r>
          </a:p>
          <a:p>
            <a:r>
              <a:rPr dirty="0"/>
              <a:t>  - Run 6 (97.68%): CNN &amp; MFCC Upgrade, 4-Layer-CNN und 40 MFCC </a:t>
            </a:r>
            <a:r>
              <a:rPr dirty="0" err="1"/>
              <a:t>Koeffizienten</a:t>
            </a:r>
            <a:endParaRPr dirty="0"/>
          </a:p>
          <a:p>
            <a:r>
              <a:rPr dirty="0"/>
              <a:t>  - Run 7 (89.67%): </a:t>
            </a:r>
            <a:r>
              <a:rPr dirty="0" err="1"/>
              <a:t>Erhöhung</a:t>
            </a:r>
            <a:r>
              <a:rPr dirty="0"/>
              <a:t> Mel-Bins auf 128 (</a:t>
            </a:r>
            <a:r>
              <a:rPr dirty="0" err="1"/>
              <a:t>schlechter</a:t>
            </a:r>
            <a:r>
              <a:rPr dirty="0"/>
              <a:t> </a:t>
            </a:r>
            <a:r>
              <a:rPr dirty="0" err="1"/>
              <a:t>wegen</a:t>
            </a:r>
            <a:r>
              <a:rPr dirty="0"/>
              <a:t> </a:t>
            </a:r>
            <a:r>
              <a:rPr dirty="0" err="1"/>
              <a:t>Rauschen</a:t>
            </a:r>
            <a:r>
              <a:rPr dirty="0"/>
              <a:t>)</a:t>
            </a:r>
            <a:endParaRPr lang="en-GB" dirty="0"/>
          </a:p>
          <a:p>
            <a:r>
              <a:rPr lang="en-GB" dirty="0"/>
              <a:t>  - </a:t>
            </a:r>
            <a:r>
              <a:rPr lang="de-AT" dirty="0"/>
              <a:t>Run 8 (95.52%): Erhöhung Dropout auf 0.3 zur Regularisierung</a:t>
            </a:r>
          </a:p>
          <a:p>
            <a:r>
              <a:rPr lang="de-AT" dirty="0"/>
              <a:t>  - Run 9 (95.42%): Model Checkpointing, Speichern nur bei Verbesserung</a:t>
            </a:r>
          </a:p>
          <a:p>
            <a:r>
              <a:rPr lang="de-AT" dirty="0"/>
              <a:t>  - Run 10 (97.95%): Combined Best, Kombination aller stabilen Ansätze</a:t>
            </a:r>
          </a:p>
          <a:p>
            <a:r>
              <a:rPr lang="de-AT" dirty="0"/>
              <a:t>  - </a:t>
            </a:r>
            <a:r>
              <a:rPr lang="de-AT" b="1" dirty="0"/>
              <a:t>Run 11 </a:t>
            </a:r>
            <a:r>
              <a:rPr lang="de-AT" dirty="0"/>
              <a:t>(98.52%): Kombiniert Run 1, 2, 3, 6, 8 und 9</a:t>
            </a:r>
          </a:p>
          <a:p>
            <a:r>
              <a:rPr lang="de-AT" dirty="0"/>
              <a:t>  - </a:t>
            </a:r>
            <a:r>
              <a:rPr lang="de-AT" b="1" dirty="0"/>
              <a:t>Run 12 </a:t>
            </a:r>
            <a:r>
              <a:rPr lang="de-AT" dirty="0"/>
              <a:t>Confusion Matrix (Reines Hilfsskript zur Analyse)</a:t>
            </a:r>
          </a:p>
          <a:p>
            <a:r>
              <a:rPr lang="de-AT" dirty="0"/>
              <a:t>  - </a:t>
            </a:r>
            <a:r>
              <a:rPr lang="de-AT" b="1" dirty="0"/>
              <a:t>Run 13 </a:t>
            </a:r>
            <a:r>
              <a:rPr lang="de-AT" dirty="0"/>
              <a:t>(98.37%): 5-Fold Cross Validation zur Generalisierungsprüfung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1: I/O-</a:t>
            </a:r>
            <a:r>
              <a:rPr lang="en-GB" dirty="0"/>
              <a:t>Bottlenecks</a:t>
            </a:r>
            <a:r>
              <a:rPr dirty="0"/>
              <a:t> </a:t>
            </a:r>
            <a:r>
              <a:rPr dirty="0" err="1"/>
              <a:t>beim</a:t>
            </a:r>
            <a:r>
              <a:rPr dirty="0"/>
              <a:t> Laden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 err="1"/>
              <a:t>Beobachtung</a:t>
            </a:r>
            <a:r>
              <a:rPr b="1" dirty="0"/>
              <a:t>: </a:t>
            </a:r>
            <a:endParaRPr lang="en-GB" b="1" dirty="0"/>
          </a:p>
          <a:p>
            <a:r>
              <a:rPr sz="2800" dirty="0"/>
              <a:t>Beim </a:t>
            </a:r>
            <a:r>
              <a:rPr sz="2800" dirty="0" err="1"/>
              <a:t>ersten</a:t>
            </a:r>
            <a:r>
              <a:rPr sz="2800" dirty="0"/>
              <a:t> </a:t>
            </a:r>
            <a:r>
              <a:rPr sz="2800" dirty="0" err="1"/>
              <a:t>Trainingsdurchlauf</a:t>
            </a:r>
            <a:r>
              <a:rPr sz="2800" dirty="0"/>
              <a:t> war die CPU-</a:t>
            </a:r>
            <a:r>
              <a:rPr sz="2800" dirty="0" err="1"/>
              <a:t>Auslastung</a:t>
            </a:r>
            <a:r>
              <a:rPr sz="2800" dirty="0"/>
              <a:t> </a:t>
            </a:r>
            <a:r>
              <a:rPr sz="2800" dirty="0" err="1"/>
              <a:t>bei</a:t>
            </a:r>
            <a:r>
              <a:rPr sz="2800" dirty="0"/>
              <a:t> 70-100% (</a:t>
            </a:r>
            <a:r>
              <a:rPr sz="2800" dirty="0" err="1"/>
              <a:t>Dekodieren</a:t>
            </a:r>
            <a:r>
              <a:rPr sz="2800" dirty="0"/>
              <a:t> der WAVs), </a:t>
            </a:r>
            <a:r>
              <a:rPr sz="2800" dirty="0" err="1"/>
              <a:t>während</a:t>
            </a:r>
            <a:r>
              <a:rPr sz="2800" dirty="0"/>
              <a:t> die GPU </a:t>
            </a:r>
            <a:r>
              <a:rPr sz="2800" dirty="0" err="1"/>
              <a:t>bei</a:t>
            </a:r>
            <a:r>
              <a:rPr sz="2800" dirty="0"/>
              <a:t> ~30% </a:t>
            </a:r>
            <a:r>
              <a:rPr sz="2800" dirty="0" err="1"/>
              <a:t>Auslastung</a:t>
            </a:r>
            <a:r>
              <a:rPr sz="2800" dirty="0"/>
              <a:t> leer lief.</a:t>
            </a:r>
            <a:endParaRPr lang="en-GB" sz="2800" dirty="0"/>
          </a:p>
          <a:p>
            <a:endParaRPr sz="2800" dirty="0"/>
          </a:p>
          <a:p>
            <a:r>
              <a:rPr b="1" dirty="0" err="1"/>
              <a:t>Lösung</a:t>
            </a:r>
            <a:r>
              <a:rPr lang="en-GB" b="1" dirty="0"/>
              <a:t>: </a:t>
            </a:r>
          </a:p>
          <a:p>
            <a:r>
              <a:rPr sz="2800" dirty="0"/>
              <a:t>RAM Caching: </a:t>
            </a:r>
            <a:r>
              <a:rPr sz="2800" dirty="0" err="1"/>
              <a:t>Implementierung</a:t>
            </a:r>
            <a:r>
              <a:rPr sz="2800" dirty="0"/>
              <a:t> </a:t>
            </a:r>
            <a:r>
              <a:rPr sz="2800" dirty="0" err="1"/>
              <a:t>einer</a:t>
            </a:r>
            <a:r>
              <a:rPr sz="2800" dirty="0"/>
              <a:t> </a:t>
            </a:r>
            <a:r>
              <a:rPr sz="2800" dirty="0" err="1"/>
              <a:t>vollständigen</a:t>
            </a:r>
            <a:r>
              <a:rPr sz="2800" dirty="0"/>
              <a:t> In-Memory Caching-</a:t>
            </a:r>
            <a:r>
              <a:rPr sz="2800" dirty="0" err="1"/>
              <a:t>Strategie</a:t>
            </a:r>
            <a:r>
              <a:rPr sz="2800" dirty="0"/>
              <a:t> </a:t>
            </a:r>
            <a:r>
              <a:rPr sz="2800" dirty="0" err="1"/>
              <a:t>im</a:t>
            </a:r>
            <a:r>
              <a:rPr sz="2800" dirty="0"/>
              <a:t> </a:t>
            </a:r>
            <a:r>
              <a:rPr sz="2800" dirty="0" err="1"/>
              <a:t>KeywordDataset-Konstruktor</a:t>
            </a:r>
            <a:r>
              <a:rPr sz="2800" dirty="0"/>
              <a:t>.</a:t>
            </a:r>
          </a:p>
          <a:p>
            <a:r>
              <a:rPr sz="2800" dirty="0"/>
              <a:t>  - Alle </a:t>
            </a:r>
            <a:r>
              <a:rPr sz="2800" dirty="0" err="1"/>
              <a:t>Audiodateien</a:t>
            </a:r>
            <a:r>
              <a:rPr sz="2800" dirty="0"/>
              <a:t> </a:t>
            </a:r>
            <a:r>
              <a:rPr sz="2800" dirty="0" err="1"/>
              <a:t>werden</a:t>
            </a:r>
            <a:r>
              <a:rPr sz="2800" dirty="0"/>
              <a:t> </a:t>
            </a:r>
            <a:r>
              <a:rPr sz="2800" dirty="0" err="1"/>
              <a:t>beim</a:t>
            </a:r>
            <a:r>
              <a:rPr sz="2800" dirty="0"/>
              <a:t> </a:t>
            </a:r>
            <a:r>
              <a:rPr sz="2800" dirty="0" err="1"/>
              <a:t>Initialisieren</a:t>
            </a:r>
            <a:r>
              <a:rPr sz="2800" dirty="0"/>
              <a:t> </a:t>
            </a:r>
            <a:r>
              <a:rPr sz="2800" dirty="0" err="1"/>
              <a:t>geladen</a:t>
            </a:r>
            <a:r>
              <a:rPr sz="2800" dirty="0"/>
              <a:t>, in Mono </a:t>
            </a:r>
            <a:r>
              <a:rPr sz="2800" dirty="0" err="1"/>
              <a:t>konvertiert</a:t>
            </a:r>
            <a:r>
              <a:rPr sz="2800" dirty="0"/>
              <a:t> und auf 16.000 Samples </a:t>
            </a:r>
            <a:r>
              <a:rPr sz="2800" dirty="0" err="1"/>
              <a:t>gekürzt</a:t>
            </a:r>
            <a:r>
              <a:rPr sz="2800" dirty="0"/>
              <a:t>/</a:t>
            </a:r>
            <a:r>
              <a:rPr sz="2800" dirty="0" err="1"/>
              <a:t>gepadded</a:t>
            </a:r>
            <a:r>
              <a:rPr sz="2800" dirty="0"/>
              <a:t>.</a:t>
            </a:r>
          </a:p>
          <a:p>
            <a:r>
              <a:rPr sz="2800" dirty="0"/>
              <a:t>  - Die </a:t>
            </a:r>
            <a:r>
              <a:rPr sz="2800" dirty="0" err="1"/>
              <a:t>resultierenden</a:t>
            </a:r>
            <a:r>
              <a:rPr sz="2800" dirty="0"/>
              <a:t> </a:t>
            </a:r>
            <a:r>
              <a:rPr sz="2800" dirty="0" err="1"/>
              <a:t>Tensoren</a:t>
            </a:r>
            <a:r>
              <a:rPr sz="2800" dirty="0"/>
              <a:t> </a:t>
            </a:r>
            <a:r>
              <a:rPr sz="2800" dirty="0" err="1"/>
              <a:t>werden</a:t>
            </a:r>
            <a:r>
              <a:rPr sz="2800" dirty="0"/>
              <a:t> </a:t>
            </a:r>
            <a:r>
              <a:rPr sz="2800" dirty="0" err="1"/>
              <a:t>direkt</a:t>
            </a:r>
            <a:r>
              <a:rPr sz="2800" dirty="0"/>
              <a:t> </a:t>
            </a:r>
            <a:r>
              <a:rPr sz="2800" dirty="0" err="1"/>
              <a:t>i</a:t>
            </a:r>
            <a:r>
              <a:rPr lang="en-GB" sz="2800" dirty="0"/>
              <a:t>m RAM </a:t>
            </a:r>
            <a:r>
              <a:rPr sz="2800" dirty="0" err="1"/>
              <a:t>gecached</a:t>
            </a:r>
            <a:r>
              <a:rPr sz="2800" dirty="0"/>
              <a:t>.</a:t>
            </a:r>
          </a:p>
          <a:p>
            <a:r>
              <a:rPr sz="2800" dirty="0"/>
              <a:t>  - </a:t>
            </a:r>
            <a:r>
              <a:rPr sz="2800" dirty="0" err="1"/>
              <a:t>Daten-Augmentationen</a:t>
            </a:r>
            <a:r>
              <a:rPr sz="2800" dirty="0"/>
              <a:t> (Time-Shifts) </a:t>
            </a:r>
            <a:r>
              <a:rPr sz="2800" dirty="0" err="1"/>
              <a:t>erfolgen</a:t>
            </a:r>
            <a:r>
              <a:rPr sz="2800" dirty="0"/>
              <a:t> </a:t>
            </a:r>
            <a:r>
              <a:rPr sz="2800" dirty="0" err="1"/>
              <a:t>direkt</a:t>
            </a:r>
            <a:r>
              <a:rPr sz="2800" dirty="0"/>
              <a:t> auf dem In-Memory Tensor.</a:t>
            </a:r>
          </a:p>
          <a:p>
            <a:endParaRPr lang="en-GB" sz="2800" dirty="0"/>
          </a:p>
          <a:p>
            <a:r>
              <a:rPr lang="en-GB" b="1" dirty="0" err="1"/>
              <a:t>Ergebnis</a:t>
            </a:r>
            <a:r>
              <a:rPr lang="en-GB" b="1" dirty="0"/>
              <a:t>: </a:t>
            </a:r>
          </a:p>
          <a:p>
            <a:r>
              <a:rPr sz="2800" dirty="0"/>
              <a:t>Die </a:t>
            </a:r>
            <a:r>
              <a:rPr sz="2800" dirty="0" err="1"/>
              <a:t>Epochenzeit</a:t>
            </a:r>
            <a:r>
              <a:rPr sz="2800" dirty="0"/>
              <a:t> sank von Minuten auf </a:t>
            </a:r>
            <a:r>
              <a:rPr sz="2800" dirty="0" err="1"/>
              <a:t>unter</a:t>
            </a:r>
            <a:r>
              <a:rPr sz="2800" dirty="0"/>
              <a:t> 5 </a:t>
            </a:r>
            <a:r>
              <a:rPr sz="2800" dirty="0" err="1"/>
              <a:t>Sekunden</a:t>
            </a:r>
            <a:r>
              <a:rPr sz="2800" dirty="0"/>
              <a:t>. GPU </a:t>
            </a:r>
            <a:r>
              <a:rPr sz="2800" dirty="0" err="1"/>
              <a:t>wird</a:t>
            </a:r>
            <a:r>
              <a:rPr sz="2800" dirty="0"/>
              <a:t> nun </a:t>
            </a:r>
            <a:r>
              <a:rPr sz="2800" dirty="0" err="1"/>
              <a:t>voll</a:t>
            </a:r>
            <a:r>
              <a:rPr sz="2800" dirty="0"/>
              <a:t> </a:t>
            </a:r>
            <a:r>
              <a:rPr sz="2800" dirty="0" err="1"/>
              <a:t>ausgelastet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2: Klassen-</a:t>
            </a:r>
            <a:r>
              <a:rPr dirty="0" err="1"/>
              <a:t>Ungleichgewicht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9488" y="2460923"/>
            <a:ext cx="18793642" cy="7560840"/>
          </a:xfrm>
        </p:spPr>
        <p:txBody>
          <a:bodyPr/>
          <a:lstStyle/>
          <a:p>
            <a:r>
              <a:rPr b="1" dirty="0"/>
              <a:t>Problem: </a:t>
            </a:r>
            <a:endParaRPr lang="en-GB" b="1" dirty="0"/>
          </a:p>
          <a:p>
            <a:r>
              <a:rPr sz="2800" dirty="0"/>
              <a:t>Die 'other'-</a:t>
            </a:r>
            <a:r>
              <a:rPr sz="2800" dirty="0" err="1"/>
              <a:t>Kategorie</a:t>
            </a:r>
            <a:r>
              <a:rPr sz="2800" dirty="0"/>
              <a:t> </a:t>
            </a:r>
            <a:r>
              <a:rPr sz="2800" dirty="0" err="1"/>
              <a:t>umfasste</a:t>
            </a:r>
            <a:r>
              <a:rPr sz="2800" dirty="0"/>
              <a:t> </a:t>
            </a:r>
            <a:r>
              <a:rPr sz="2800" dirty="0" err="1"/>
              <a:t>über</a:t>
            </a:r>
            <a:r>
              <a:rPr sz="2800" dirty="0"/>
              <a:t> 56.000 </a:t>
            </a:r>
            <a:r>
              <a:rPr sz="2800" dirty="0" err="1"/>
              <a:t>Audiodateien</a:t>
            </a:r>
            <a:r>
              <a:rPr sz="2800" dirty="0"/>
              <a:t> (</a:t>
            </a:r>
            <a:r>
              <a:rPr sz="2800" dirty="0" err="1"/>
              <a:t>Zusammenführung</a:t>
            </a:r>
            <a:r>
              <a:rPr sz="2800" dirty="0"/>
              <a:t> </a:t>
            </a:r>
            <a:r>
              <a:rPr sz="2800" dirty="0" err="1"/>
              <a:t>aller</a:t>
            </a:r>
            <a:r>
              <a:rPr sz="2800" dirty="0"/>
              <a:t> Non-Keyword-Ordner). Wenn </a:t>
            </a:r>
            <a:r>
              <a:rPr sz="2800" dirty="0" err="1"/>
              <a:t>ungefiltert</a:t>
            </a:r>
            <a:r>
              <a:rPr sz="2800" dirty="0"/>
              <a:t>, </a:t>
            </a:r>
            <a:r>
              <a:rPr sz="2800" dirty="0" err="1"/>
              <a:t>würde</a:t>
            </a:r>
            <a:r>
              <a:rPr sz="2800" dirty="0"/>
              <a:t> das Modell </a:t>
            </a:r>
            <a:r>
              <a:rPr sz="2800" dirty="0" err="1"/>
              <a:t>vorwiegend</a:t>
            </a:r>
            <a:r>
              <a:rPr sz="2800" dirty="0"/>
              <a:t> 'other' </a:t>
            </a:r>
            <a:r>
              <a:rPr sz="2800" dirty="0" err="1"/>
              <a:t>vorhersagen</a:t>
            </a:r>
            <a:r>
              <a:rPr sz="2800" dirty="0"/>
              <a:t>.</a:t>
            </a:r>
            <a:endParaRPr lang="en-GB" sz="2800" dirty="0"/>
          </a:p>
          <a:p>
            <a:endParaRPr sz="2800" dirty="0"/>
          </a:p>
          <a:p>
            <a:r>
              <a:rPr b="1" dirty="0" err="1"/>
              <a:t>Lösung</a:t>
            </a:r>
            <a:r>
              <a:rPr lang="en-GB" b="1" dirty="0"/>
              <a:t>:</a:t>
            </a:r>
          </a:p>
          <a:p>
            <a:r>
              <a:rPr sz="2800" dirty="0"/>
              <a:t>(</a:t>
            </a:r>
            <a:r>
              <a:rPr sz="2800" dirty="0" err="1"/>
              <a:t>Downsampling</a:t>
            </a:r>
            <a:r>
              <a:rPr sz="2800" dirty="0"/>
              <a:t> &amp; Oversampling):</a:t>
            </a:r>
          </a:p>
          <a:p>
            <a:r>
              <a:rPr sz="2800" dirty="0"/>
              <a:t>  - Die 'other'-</a:t>
            </a:r>
            <a:r>
              <a:rPr sz="2800" dirty="0" err="1"/>
              <a:t>Kategorie</a:t>
            </a:r>
            <a:r>
              <a:rPr sz="2800" dirty="0"/>
              <a:t> </a:t>
            </a:r>
            <a:r>
              <a:rPr sz="2800" dirty="0" err="1"/>
              <a:t>wurde</a:t>
            </a:r>
            <a:r>
              <a:rPr sz="2800" dirty="0"/>
              <a:t> </a:t>
            </a:r>
            <a:r>
              <a:rPr sz="2800" dirty="0" err="1"/>
              <a:t>zufällig</a:t>
            </a:r>
            <a:r>
              <a:rPr sz="2800" dirty="0"/>
              <a:t> auf </a:t>
            </a:r>
            <a:r>
              <a:rPr sz="2800" dirty="0" err="1"/>
              <a:t>genau</a:t>
            </a:r>
            <a:r>
              <a:rPr sz="2800" dirty="0"/>
              <a:t> 10.000 </a:t>
            </a:r>
            <a:r>
              <a:rPr sz="2800" dirty="0" err="1"/>
              <a:t>Dateien</a:t>
            </a:r>
            <a:r>
              <a:rPr sz="2800" dirty="0"/>
              <a:t> </a:t>
            </a:r>
            <a:r>
              <a:rPr sz="2800" dirty="0" err="1"/>
              <a:t>herunterskaliert</a:t>
            </a:r>
            <a:r>
              <a:rPr sz="2800" dirty="0"/>
              <a:t>.</a:t>
            </a:r>
          </a:p>
          <a:p>
            <a:r>
              <a:rPr sz="2800" dirty="0"/>
              <a:t>  - </a:t>
            </a:r>
            <a:r>
              <a:rPr sz="2800" dirty="0" err="1"/>
              <a:t>Aufteilung</a:t>
            </a:r>
            <a:r>
              <a:rPr sz="2800" dirty="0"/>
              <a:t> des </a:t>
            </a:r>
            <a:r>
              <a:rPr sz="2800" dirty="0" err="1"/>
              <a:t>Datensatzes</a:t>
            </a:r>
            <a:r>
              <a:rPr sz="2800" dirty="0"/>
              <a:t> in Train (70%), Validation (15%) und Test (15%) </a:t>
            </a:r>
            <a:endParaRPr lang="en-GB" sz="2800" dirty="0"/>
          </a:p>
          <a:p>
            <a:r>
              <a:rPr lang="en-GB" sz="2800" dirty="0"/>
              <a:t>  - Di</a:t>
            </a:r>
            <a:r>
              <a:rPr sz="2800" dirty="0"/>
              <a:t>e Keyword-Klassen </a:t>
            </a:r>
            <a:r>
              <a:rPr sz="2800" dirty="0" err="1"/>
              <a:t>im</a:t>
            </a:r>
            <a:r>
              <a:rPr sz="2800" dirty="0"/>
              <a:t> </a:t>
            </a:r>
            <a:r>
              <a:rPr sz="2800" dirty="0" err="1"/>
              <a:t>Trainingsset</a:t>
            </a:r>
            <a:r>
              <a:rPr sz="2800" dirty="0"/>
              <a:t> (</a:t>
            </a:r>
            <a:r>
              <a:rPr sz="2800" dirty="0" err="1"/>
              <a:t>jeweils</a:t>
            </a:r>
            <a:r>
              <a:rPr sz="2800" dirty="0"/>
              <a:t> ca. 2.000 </a:t>
            </a:r>
            <a:r>
              <a:rPr sz="2800" dirty="0" err="1"/>
              <a:t>Dateien</a:t>
            </a:r>
            <a:r>
              <a:rPr sz="2800" dirty="0"/>
              <a:t>) </a:t>
            </a:r>
            <a:r>
              <a:rPr sz="2800" dirty="0" err="1"/>
              <a:t>wurden</a:t>
            </a:r>
            <a:r>
              <a:rPr sz="2800" dirty="0"/>
              <a:t> auf 8.000 </a:t>
            </a:r>
            <a:r>
              <a:rPr sz="2800" dirty="0" err="1"/>
              <a:t>Proben</a:t>
            </a:r>
            <a:r>
              <a:rPr sz="2800" dirty="0"/>
              <a:t> </a:t>
            </a:r>
            <a:r>
              <a:rPr sz="2800" dirty="0" err="1"/>
              <a:t>übertastet</a:t>
            </a:r>
            <a:r>
              <a:rPr sz="2800" dirty="0"/>
              <a:t> (Oversampling).</a:t>
            </a:r>
            <a:endParaRPr lang="en-GB" sz="2800" dirty="0"/>
          </a:p>
          <a:p>
            <a:endParaRPr sz="2800" dirty="0"/>
          </a:p>
          <a:p>
            <a:r>
              <a:rPr lang="en-GB" b="1" dirty="0" err="1"/>
              <a:t>Ergebnis</a:t>
            </a:r>
            <a:r>
              <a:rPr b="1" dirty="0"/>
              <a:t>: </a:t>
            </a:r>
            <a:endParaRPr lang="en-GB" b="1" dirty="0"/>
          </a:p>
          <a:p>
            <a:r>
              <a:rPr sz="2800" dirty="0" err="1"/>
              <a:t>Ausgeglichenes</a:t>
            </a:r>
            <a:r>
              <a:rPr sz="2800" dirty="0"/>
              <a:t> </a:t>
            </a:r>
            <a:r>
              <a:rPr sz="2800" dirty="0" err="1"/>
              <a:t>Trainingsset</a:t>
            </a:r>
            <a:r>
              <a:rPr sz="2800" dirty="0"/>
              <a:t> (8k pro Keyword, 7k für 'other') </a:t>
            </a:r>
            <a:r>
              <a:rPr sz="2800" dirty="0" err="1"/>
              <a:t>verhindert</a:t>
            </a:r>
            <a:r>
              <a:rPr sz="2800" dirty="0"/>
              <a:t> </a:t>
            </a:r>
            <a:r>
              <a:rPr sz="2800" dirty="0" err="1"/>
              <a:t>Verzerrungen</a:t>
            </a:r>
            <a:r>
              <a:rPr lang="en-GB" sz="2800" dirty="0"/>
              <a:t> </a:t>
            </a:r>
            <a:r>
              <a:rPr lang="en-GB" sz="2800" dirty="0" err="1"/>
              <a:t>eines</a:t>
            </a:r>
            <a:r>
              <a:rPr lang="en-GB" sz="2800" dirty="0"/>
              <a:t> Keywords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3: False Triggers in Echtzeit-Umgebungen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Problem: </a:t>
            </a:r>
            <a:endParaRPr lang="en-GB" b="1" dirty="0"/>
          </a:p>
          <a:p>
            <a:r>
              <a:rPr sz="2800" dirty="0"/>
              <a:t>In Live-</a:t>
            </a:r>
            <a:r>
              <a:rPr sz="2800" dirty="0" err="1"/>
              <a:t>Szenarien</a:t>
            </a:r>
            <a:r>
              <a:rPr sz="2800" dirty="0"/>
              <a:t> </a:t>
            </a:r>
            <a:r>
              <a:rPr sz="2800" dirty="0" err="1"/>
              <a:t>führten</a:t>
            </a:r>
            <a:r>
              <a:rPr sz="2800" dirty="0"/>
              <a:t> Stille, </a:t>
            </a:r>
            <a:r>
              <a:rPr sz="2800" dirty="0" err="1"/>
              <a:t>Atmen</a:t>
            </a:r>
            <a:r>
              <a:rPr sz="2800" dirty="0"/>
              <a:t> </a:t>
            </a:r>
            <a:r>
              <a:rPr sz="2800" dirty="0" err="1"/>
              <a:t>oder</a:t>
            </a:r>
            <a:r>
              <a:rPr sz="2800" dirty="0"/>
              <a:t> </a:t>
            </a:r>
            <a:r>
              <a:rPr sz="2800" dirty="0" err="1"/>
              <a:t>Rauschen</a:t>
            </a:r>
            <a:r>
              <a:rPr sz="2800" dirty="0"/>
              <a:t> </a:t>
            </a:r>
            <a:r>
              <a:rPr sz="2800" dirty="0" err="1"/>
              <a:t>zu</a:t>
            </a:r>
            <a:r>
              <a:rPr sz="2800" dirty="0"/>
              <a:t> </a:t>
            </a:r>
            <a:r>
              <a:rPr sz="2800" dirty="0" err="1"/>
              <a:t>falschen</a:t>
            </a:r>
            <a:r>
              <a:rPr sz="2800" dirty="0"/>
              <a:t> </a:t>
            </a:r>
            <a:r>
              <a:rPr sz="2800" dirty="0" err="1"/>
              <a:t>Befehlsaktivierungen</a:t>
            </a:r>
            <a:r>
              <a:rPr sz="2800" dirty="0"/>
              <a:t> </a:t>
            </a:r>
            <a:r>
              <a:rPr sz="2800" dirty="0" err="1"/>
              <a:t>im</a:t>
            </a:r>
            <a:r>
              <a:rPr sz="2800" dirty="0"/>
              <a:t> Web-Interface.</a:t>
            </a:r>
            <a:endParaRPr lang="en-GB" sz="2800" dirty="0"/>
          </a:p>
          <a:p>
            <a:endParaRPr sz="2800" dirty="0"/>
          </a:p>
          <a:p>
            <a:r>
              <a:rPr b="1" dirty="0" err="1"/>
              <a:t>Lösung</a:t>
            </a:r>
            <a:r>
              <a:rPr lang="en-GB" b="1" dirty="0"/>
              <a:t>:</a:t>
            </a:r>
            <a:r>
              <a:rPr b="1" dirty="0"/>
              <a:t> </a:t>
            </a:r>
            <a:endParaRPr lang="en-GB" b="1" dirty="0"/>
          </a:p>
          <a:p>
            <a:r>
              <a:rPr sz="2800" dirty="0"/>
              <a:t>(Post-Inference Filter): Integration </a:t>
            </a:r>
            <a:r>
              <a:rPr sz="2800" dirty="0" err="1"/>
              <a:t>zweier</a:t>
            </a:r>
            <a:r>
              <a:rPr sz="2800" dirty="0"/>
              <a:t> </a:t>
            </a:r>
            <a:r>
              <a:rPr sz="2800" dirty="0" err="1"/>
              <a:t>nachgeschalteter</a:t>
            </a:r>
            <a:r>
              <a:rPr sz="2800" dirty="0"/>
              <a:t> </a:t>
            </a:r>
            <a:r>
              <a:rPr sz="2800" dirty="0" err="1"/>
              <a:t>Filterregeln</a:t>
            </a:r>
            <a:r>
              <a:rPr sz="2800" dirty="0"/>
              <a:t>:</a:t>
            </a:r>
          </a:p>
          <a:p>
            <a:r>
              <a:rPr sz="2800" dirty="0"/>
              <a:t>  1. Voice Activity Detection (VAD) Filter: </a:t>
            </a:r>
            <a:r>
              <a:rPr sz="2800" dirty="0" err="1"/>
              <a:t>Berechnet</a:t>
            </a:r>
            <a:r>
              <a:rPr sz="2800" dirty="0"/>
              <a:t> die RMS-</a:t>
            </a:r>
            <a:r>
              <a:rPr lang="en-GB" sz="2800" dirty="0" err="1"/>
              <a:t>Lautstärke</a:t>
            </a:r>
            <a:r>
              <a:rPr sz="2800" dirty="0"/>
              <a:t> des 1s-Rohaudios. Falls RMS &lt; 0,002, </a:t>
            </a:r>
            <a:r>
              <a:rPr sz="2800" dirty="0" err="1"/>
              <a:t>wird</a:t>
            </a:r>
            <a:r>
              <a:rPr sz="2800" dirty="0"/>
              <a:t> die </a:t>
            </a:r>
            <a:r>
              <a:rPr sz="2800" dirty="0" err="1"/>
              <a:t>Vorhersage</a:t>
            </a:r>
            <a:r>
              <a:rPr sz="2800" dirty="0"/>
              <a:t> </a:t>
            </a:r>
            <a:r>
              <a:rPr sz="2800" dirty="0" err="1"/>
              <a:t>erzwungen</a:t>
            </a:r>
            <a:r>
              <a:rPr sz="2800" dirty="0"/>
              <a:t> auf 'other' </a:t>
            </a:r>
            <a:r>
              <a:rPr sz="2800" dirty="0" err="1"/>
              <a:t>gesetzt</a:t>
            </a:r>
            <a:r>
              <a:rPr sz="2800" dirty="0"/>
              <a:t>.</a:t>
            </a:r>
          </a:p>
          <a:p>
            <a:r>
              <a:rPr sz="2800" dirty="0"/>
              <a:t>  2. Confidence Thresholding: Die </a:t>
            </a:r>
            <a:r>
              <a:rPr sz="2800" dirty="0" err="1"/>
              <a:t>Softmax-Wahrscheinlichkeit</a:t>
            </a:r>
            <a:r>
              <a:rPr sz="2800" dirty="0"/>
              <a:t> der </a:t>
            </a:r>
            <a:r>
              <a:rPr sz="2800" dirty="0" err="1"/>
              <a:t>Vorhersage</a:t>
            </a:r>
            <a:r>
              <a:rPr sz="2800" dirty="0"/>
              <a:t> muss </a:t>
            </a:r>
            <a:r>
              <a:rPr sz="2800" dirty="0" err="1"/>
              <a:t>mindestens</a:t>
            </a:r>
            <a:r>
              <a:rPr sz="2800" dirty="0"/>
              <a:t> 0,85 </a:t>
            </a:r>
            <a:r>
              <a:rPr sz="2800" dirty="0" err="1"/>
              <a:t>betragen</a:t>
            </a:r>
            <a:r>
              <a:rPr sz="2800" dirty="0"/>
              <a:t>. </a:t>
            </a:r>
            <a:r>
              <a:rPr sz="2800" dirty="0" err="1"/>
              <a:t>Liegt</a:t>
            </a:r>
            <a:r>
              <a:rPr sz="2800" dirty="0"/>
              <a:t> </a:t>
            </a:r>
            <a:r>
              <a:rPr sz="2800" dirty="0" err="1"/>
              <a:t>sie</a:t>
            </a:r>
            <a:r>
              <a:rPr sz="2800" dirty="0"/>
              <a:t> </a:t>
            </a:r>
            <a:r>
              <a:rPr sz="2800" dirty="0" err="1"/>
              <a:t>darunter</a:t>
            </a:r>
            <a:r>
              <a:rPr sz="2800" dirty="0"/>
              <a:t>, </a:t>
            </a:r>
            <a:r>
              <a:rPr sz="2800" dirty="0" err="1"/>
              <a:t>wird</a:t>
            </a:r>
            <a:r>
              <a:rPr sz="2800" dirty="0"/>
              <a:t> die </a:t>
            </a:r>
            <a:r>
              <a:rPr sz="2800" dirty="0" err="1"/>
              <a:t>Vorhersage</a:t>
            </a:r>
            <a:r>
              <a:rPr sz="2800" dirty="0"/>
              <a:t> auf 'other' </a:t>
            </a:r>
            <a:r>
              <a:rPr sz="2800" dirty="0" err="1"/>
              <a:t>überschrieben</a:t>
            </a:r>
            <a:r>
              <a:rPr sz="2800" dirty="0"/>
              <a:t>.</a:t>
            </a:r>
            <a:endParaRPr lang="en-GB" sz="2800" dirty="0"/>
          </a:p>
          <a:p>
            <a:endParaRPr sz="2800" dirty="0"/>
          </a:p>
          <a:p>
            <a:r>
              <a:rPr lang="en-GB" b="1" dirty="0" err="1"/>
              <a:t>Ergebnis</a:t>
            </a:r>
            <a:r>
              <a:rPr lang="en-GB" b="1" dirty="0"/>
              <a:t>: </a:t>
            </a:r>
          </a:p>
          <a:p>
            <a:r>
              <a:rPr lang="en-GB" sz="2800" dirty="0" err="1"/>
              <a:t>Diese</a:t>
            </a:r>
            <a:r>
              <a:rPr lang="en-GB" sz="2800" dirty="0"/>
              <a:t> </a:t>
            </a:r>
            <a:r>
              <a:rPr sz="2800" dirty="0" err="1"/>
              <a:t>Nachfilter</a:t>
            </a:r>
            <a:r>
              <a:rPr sz="2800" dirty="0"/>
              <a:t> </a:t>
            </a:r>
            <a:r>
              <a:rPr sz="2800" dirty="0" err="1"/>
              <a:t>reduzierten</a:t>
            </a:r>
            <a:r>
              <a:rPr sz="2800" dirty="0"/>
              <a:t> </a:t>
            </a:r>
            <a:r>
              <a:rPr sz="2800" dirty="0" err="1"/>
              <a:t>Fehlaktivierungen</a:t>
            </a:r>
            <a:r>
              <a:rPr sz="2800" dirty="0"/>
              <a:t> in der </a:t>
            </a:r>
            <a:r>
              <a:rPr sz="2800" dirty="0" err="1"/>
              <a:t>Webapplikation</a:t>
            </a:r>
            <a:r>
              <a:rPr sz="2800" dirty="0"/>
              <a:t> um ca. 50%</a:t>
            </a:r>
            <a:r>
              <a:rPr lang="en-GB" sz="2800" dirty="0"/>
              <a:t> (</a:t>
            </a:r>
            <a:r>
              <a:rPr lang="en-GB" sz="2800" dirty="0" err="1"/>
              <a:t>händisch</a:t>
            </a:r>
            <a:r>
              <a:rPr lang="en-GB" sz="2800" dirty="0"/>
              <a:t> </a:t>
            </a:r>
            <a:r>
              <a:rPr lang="en-GB" sz="2800" dirty="0" err="1"/>
              <a:t>gemessen</a:t>
            </a:r>
            <a:r>
              <a:rPr lang="en-GB" sz="2800" dirty="0"/>
              <a:t>)</a:t>
            </a:r>
            <a:r>
              <a:rPr sz="28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Auswertung: Systematische Fehleranalyse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9488" y="2244899"/>
            <a:ext cx="18145570" cy="77768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3200" b="1" dirty="0"/>
              <a:t>Fehler-Pipeline</a:t>
            </a:r>
            <a:r>
              <a:rPr sz="2800" dirty="0"/>
              <a:t>: </a:t>
            </a:r>
            <a:endParaRPr lang="en-GB" sz="2800" dirty="0"/>
          </a:p>
          <a:p>
            <a:pPr>
              <a:lnSpc>
                <a:spcPct val="150000"/>
              </a:lnSpc>
            </a:pPr>
            <a:r>
              <a:rPr sz="2800" dirty="0" err="1"/>
              <a:t>Während</a:t>
            </a:r>
            <a:r>
              <a:rPr sz="2800" dirty="0"/>
              <a:t> der </a:t>
            </a:r>
            <a:r>
              <a:rPr sz="2800" dirty="0" err="1"/>
              <a:t>Modellauswertung</a:t>
            </a:r>
            <a:r>
              <a:rPr sz="2800" dirty="0"/>
              <a:t> </a:t>
            </a:r>
            <a:r>
              <a:rPr sz="2800" dirty="0" err="1"/>
              <a:t>vergleicht</a:t>
            </a:r>
            <a:r>
              <a:rPr sz="2800" dirty="0"/>
              <a:t> das Notebook </a:t>
            </a:r>
            <a:r>
              <a:rPr sz="2800" dirty="0" err="1"/>
              <a:t>Vorhersagen</a:t>
            </a:r>
            <a:r>
              <a:rPr sz="2800" dirty="0"/>
              <a:t> </a:t>
            </a:r>
            <a:r>
              <a:rPr sz="2800" dirty="0" err="1"/>
              <a:t>mit</a:t>
            </a:r>
            <a:r>
              <a:rPr sz="2800" dirty="0"/>
              <a:t> Ground-Truth-Labels und </a:t>
            </a:r>
            <a:r>
              <a:rPr sz="2800" dirty="0" err="1"/>
              <a:t>protokolliert</a:t>
            </a:r>
            <a:r>
              <a:rPr sz="2800" dirty="0"/>
              <a:t> alle Fehler in 'Utils/PyTorch_wronglist.txt'.</a:t>
            </a:r>
          </a:p>
          <a:p>
            <a:pPr>
              <a:lnSpc>
                <a:spcPct val="150000"/>
              </a:lnSpc>
            </a:pPr>
            <a:r>
              <a:rPr sz="2800" dirty="0" err="1"/>
              <a:t>Inhalt</a:t>
            </a:r>
            <a:r>
              <a:rPr sz="2800" dirty="0"/>
              <a:t> der Log-</a:t>
            </a:r>
            <a:r>
              <a:rPr sz="2800" dirty="0" err="1"/>
              <a:t>Datei</a:t>
            </a:r>
            <a:r>
              <a:rPr sz="2800" dirty="0"/>
              <a:t>: </a:t>
            </a:r>
            <a:r>
              <a:rPr sz="2800" dirty="0" err="1"/>
              <a:t>Spalten</a:t>
            </a:r>
            <a:r>
              <a:rPr sz="2800" dirty="0"/>
              <a:t> für True Label, Predicted und </a:t>
            </a:r>
            <a:r>
              <a:rPr sz="2800" dirty="0" err="1"/>
              <a:t>Dateipfad</a:t>
            </a:r>
            <a:r>
              <a:rPr sz="2800" dirty="0"/>
              <a:t>.</a:t>
            </a:r>
            <a:endParaRPr lang="en-GB" sz="2800" dirty="0"/>
          </a:p>
          <a:p>
            <a:pPr>
              <a:lnSpc>
                <a:spcPct val="150000"/>
              </a:lnSpc>
            </a:pPr>
            <a:endParaRPr sz="2800" dirty="0"/>
          </a:p>
          <a:p>
            <a:pPr>
              <a:lnSpc>
                <a:spcPct val="150000"/>
              </a:lnSpc>
            </a:pPr>
            <a:r>
              <a:rPr sz="3200" b="1" dirty="0" err="1"/>
              <a:t>Ergebnisse</a:t>
            </a:r>
            <a:r>
              <a:rPr sz="3200" b="1" dirty="0"/>
              <a:t> der </a:t>
            </a:r>
            <a:r>
              <a:rPr sz="3200" b="1" dirty="0" err="1"/>
              <a:t>Fehleranalyse</a:t>
            </a:r>
            <a:r>
              <a:rPr sz="3200" b="1" dirty="0"/>
              <a:t>:</a:t>
            </a:r>
          </a:p>
          <a:p>
            <a:pPr>
              <a:lnSpc>
                <a:spcPct val="150000"/>
              </a:lnSpc>
            </a:pPr>
            <a:r>
              <a:rPr sz="2800" dirty="0"/>
              <a:t>  - 'down' </a:t>
            </a:r>
            <a:r>
              <a:rPr sz="2800" dirty="0" err="1"/>
              <a:t>wurde</a:t>
            </a:r>
            <a:r>
              <a:rPr sz="2800" dirty="0"/>
              <a:t> </a:t>
            </a:r>
            <a:r>
              <a:rPr sz="2800" dirty="0" err="1"/>
              <a:t>vereinzelt</a:t>
            </a:r>
            <a:r>
              <a:rPr sz="2800" dirty="0"/>
              <a:t> </a:t>
            </a:r>
            <a:r>
              <a:rPr sz="2800" dirty="0" err="1"/>
              <a:t>als</a:t>
            </a:r>
            <a:r>
              <a:rPr sz="2800" dirty="0"/>
              <a:t> 'other' </a:t>
            </a:r>
            <a:r>
              <a:rPr sz="2800" dirty="0" err="1"/>
              <a:t>vorhergesagt</a:t>
            </a:r>
            <a:r>
              <a:rPr sz="2800" dirty="0"/>
              <a:t> (</a:t>
            </a:r>
            <a:r>
              <a:rPr sz="2800" dirty="0" err="1"/>
              <a:t>phonetische</a:t>
            </a:r>
            <a:r>
              <a:rPr sz="2800" dirty="0"/>
              <a:t> </a:t>
            </a:r>
            <a:r>
              <a:rPr sz="2800" dirty="0" err="1"/>
              <a:t>Abschwächung</a:t>
            </a:r>
            <a:r>
              <a:rPr sz="2800" dirty="0"/>
              <a:t>).</a:t>
            </a:r>
          </a:p>
          <a:p>
            <a:pPr>
              <a:lnSpc>
                <a:spcPct val="150000"/>
              </a:lnSpc>
            </a:pPr>
            <a:r>
              <a:rPr sz="2800" dirty="0"/>
              <a:t>  - </a:t>
            </a:r>
            <a:r>
              <a:rPr sz="2800" dirty="0" err="1"/>
              <a:t>Wörter</a:t>
            </a:r>
            <a:r>
              <a:rPr sz="2800" dirty="0"/>
              <a:t> der 'other'-Klasse </a:t>
            </a:r>
            <a:r>
              <a:rPr sz="2800" dirty="0" err="1"/>
              <a:t>wie</a:t>
            </a:r>
            <a:r>
              <a:rPr sz="2800" dirty="0"/>
              <a:t> 'go', 'on', 'one' </a:t>
            </a:r>
            <a:r>
              <a:rPr sz="2800" dirty="0" err="1"/>
              <a:t>oder</a:t>
            </a:r>
            <a:r>
              <a:rPr sz="2800" dirty="0"/>
              <a:t> 'dog' </a:t>
            </a:r>
            <a:r>
              <a:rPr sz="2800" dirty="0" err="1"/>
              <a:t>führten</a:t>
            </a:r>
            <a:r>
              <a:rPr sz="2800" dirty="0"/>
              <a:t> </a:t>
            </a:r>
            <a:r>
              <a:rPr sz="2800" dirty="0" err="1"/>
              <a:t>vereinzelt</a:t>
            </a:r>
            <a:r>
              <a:rPr sz="2800" dirty="0"/>
              <a:t> </a:t>
            </a:r>
            <a:r>
              <a:rPr sz="2800" dirty="0" err="1"/>
              <a:t>zu</a:t>
            </a:r>
            <a:r>
              <a:rPr sz="2800" dirty="0"/>
              <a:t> </a:t>
            </a:r>
            <a:r>
              <a:rPr sz="2800" dirty="0" err="1"/>
              <a:t>Fehlauslösungen</a:t>
            </a:r>
            <a:r>
              <a:rPr sz="2800" dirty="0"/>
              <a:t> </a:t>
            </a:r>
            <a:r>
              <a:rPr sz="2800" dirty="0" err="1"/>
              <a:t>bei</a:t>
            </a:r>
            <a:r>
              <a:rPr sz="2800" dirty="0"/>
              <a:t> den Keywords.</a:t>
            </a:r>
          </a:p>
          <a:p>
            <a:pPr>
              <a:lnSpc>
                <a:spcPct val="150000"/>
              </a:lnSpc>
            </a:pPr>
            <a:r>
              <a:rPr sz="2800" dirty="0"/>
              <a:t>  - Stille </a:t>
            </a:r>
            <a:r>
              <a:rPr sz="2800" dirty="0" err="1"/>
              <a:t>Passagen</a:t>
            </a:r>
            <a:r>
              <a:rPr sz="2800" dirty="0"/>
              <a:t> </a:t>
            </a:r>
            <a:r>
              <a:rPr sz="2800" dirty="0" err="1"/>
              <a:t>wurden</a:t>
            </a:r>
            <a:r>
              <a:rPr sz="2800" dirty="0"/>
              <a:t> dank VAD-Filter </a:t>
            </a:r>
            <a:r>
              <a:rPr sz="2800" dirty="0" err="1"/>
              <a:t>sauber</a:t>
            </a:r>
            <a:r>
              <a:rPr sz="2800" dirty="0"/>
              <a:t> </a:t>
            </a:r>
            <a:r>
              <a:rPr sz="2800" dirty="0" err="1"/>
              <a:t>als</a:t>
            </a:r>
            <a:r>
              <a:rPr sz="2800" dirty="0"/>
              <a:t> 'other' </a:t>
            </a:r>
            <a:r>
              <a:rPr sz="2800" dirty="0" err="1"/>
              <a:t>klassifiziert</a:t>
            </a:r>
            <a:r>
              <a:rPr sz="2800" dirty="0"/>
              <a:t>.</a:t>
            </a:r>
            <a:endParaRPr lang="en-GB" sz="2800" dirty="0"/>
          </a:p>
          <a:p>
            <a:pPr>
              <a:lnSpc>
                <a:spcPct val="150000"/>
              </a:lnSpc>
            </a:pPr>
            <a:endParaRPr sz="2800" dirty="0"/>
          </a:p>
          <a:p>
            <a:pPr>
              <a:lnSpc>
                <a:spcPct val="150000"/>
              </a:lnSpc>
            </a:pPr>
            <a:r>
              <a:rPr sz="3200" b="1" dirty="0" err="1"/>
              <a:t>Lerneffekt</a:t>
            </a:r>
            <a:r>
              <a:rPr sz="3200" b="1" dirty="0"/>
              <a:t>: </a:t>
            </a:r>
            <a:endParaRPr lang="en-GB" sz="3200" b="1" dirty="0"/>
          </a:p>
          <a:p>
            <a:pPr>
              <a:lnSpc>
                <a:spcPct val="150000"/>
              </a:lnSpc>
            </a:pPr>
            <a:r>
              <a:rPr sz="2800" dirty="0"/>
              <a:t>Die </a:t>
            </a:r>
            <a:r>
              <a:rPr sz="2800" dirty="0" err="1"/>
              <a:t>Protokollierung</a:t>
            </a:r>
            <a:r>
              <a:rPr sz="2800" dirty="0"/>
              <a:t> </a:t>
            </a:r>
            <a:r>
              <a:rPr sz="2800" dirty="0" err="1"/>
              <a:t>hilft</a:t>
            </a:r>
            <a:r>
              <a:rPr sz="2800" dirty="0"/>
              <a:t>, </a:t>
            </a:r>
            <a:r>
              <a:rPr sz="2800" dirty="0" err="1"/>
              <a:t>problematische</a:t>
            </a:r>
            <a:r>
              <a:rPr sz="2800" dirty="0"/>
              <a:t> </a:t>
            </a:r>
            <a:r>
              <a:rPr sz="2800" dirty="0" err="1"/>
              <a:t>Aufnahmen</a:t>
            </a:r>
            <a:r>
              <a:rPr sz="2800" dirty="0"/>
              <a:t> (Label-Noise) </a:t>
            </a:r>
            <a:r>
              <a:rPr sz="2800" dirty="0" err="1"/>
              <a:t>im</a:t>
            </a:r>
            <a:r>
              <a:rPr sz="2800" dirty="0"/>
              <a:t> </a:t>
            </a:r>
            <a:r>
              <a:rPr sz="2800" dirty="0" err="1"/>
              <a:t>Datensatz</a:t>
            </a:r>
            <a:r>
              <a:rPr lang="en-GB" sz="2800" dirty="0"/>
              <a:t> </a:t>
            </a:r>
            <a:r>
              <a:rPr lang="en-GB" sz="2800" dirty="0" err="1"/>
              <a:t>zu</a:t>
            </a:r>
            <a:r>
              <a:rPr lang="en-GB" sz="2800" dirty="0"/>
              <a:t> </a:t>
            </a:r>
            <a:r>
              <a:rPr lang="en-GB" sz="2800" dirty="0" err="1"/>
              <a:t>finden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ONNX - Open Neural Network Exchange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dirty="0" err="1"/>
              <a:t>Offener</a:t>
            </a:r>
            <a:r>
              <a:rPr dirty="0"/>
              <a:t> </a:t>
            </a:r>
            <a:r>
              <a:rPr sz="3200" dirty="0"/>
              <a:t>Standard </a:t>
            </a:r>
            <a:r>
              <a:rPr sz="3200" dirty="0" err="1"/>
              <a:t>zur</a:t>
            </a:r>
            <a:r>
              <a:rPr sz="3200" dirty="0"/>
              <a:t> </a:t>
            </a:r>
            <a:r>
              <a:rPr lang="en-GB" sz="3200" dirty="0"/>
              <a:t>h</a:t>
            </a:r>
            <a:r>
              <a:rPr sz="3200" dirty="0" err="1"/>
              <a:t>ardware</a:t>
            </a:r>
            <a:r>
              <a:rPr sz="3200" dirty="0"/>
              <a:t>- und </a:t>
            </a:r>
            <a:r>
              <a:rPr sz="3200" dirty="0" err="1"/>
              <a:t>plattformunabhängigen</a:t>
            </a:r>
            <a:r>
              <a:rPr sz="3200" dirty="0"/>
              <a:t> </a:t>
            </a:r>
            <a:r>
              <a:rPr sz="3200" dirty="0" err="1"/>
              <a:t>Modellrepräsentation</a:t>
            </a:r>
            <a:r>
              <a:rPr sz="3200" dirty="0"/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err="1"/>
              <a:t>PyTorch</a:t>
            </a:r>
            <a:r>
              <a:rPr b="1" dirty="0"/>
              <a:t>: </a:t>
            </a:r>
            <a:r>
              <a:rPr sz="3200" dirty="0"/>
              <a:t>Export </a:t>
            </a:r>
            <a:r>
              <a:rPr sz="3200" dirty="0" err="1"/>
              <a:t>direkt</a:t>
            </a:r>
            <a:r>
              <a:rPr sz="3200" dirty="0"/>
              <a:t> </a:t>
            </a:r>
            <a:r>
              <a:rPr sz="3200" dirty="0" err="1"/>
              <a:t>aus</a:t>
            </a:r>
            <a:r>
              <a:rPr sz="3200" dirty="0"/>
              <a:t> </a:t>
            </a:r>
            <a:r>
              <a:rPr sz="3200" dirty="0" err="1"/>
              <a:t>PyTorch</a:t>
            </a:r>
            <a:r>
              <a:rPr sz="3200" dirty="0"/>
              <a:t> </a:t>
            </a:r>
            <a:r>
              <a:rPr sz="3200" dirty="0" err="1"/>
              <a:t>über</a:t>
            </a:r>
            <a:r>
              <a:rPr sz="3200" dirty="0"/>
              <a:t> </a:t>
            </a:r>
            <a:r>
              <a:rPr sz="3200" dirty="0" err="1"/>
              <a:t>torch.onnx.export</a:t>
            </a:r>
            <a:r>
              <a:rPr lang="en-GB" sz="3200" dirty="0"/>
              <a:t>()</a:t>
            </a:r>
            <a:r>
              <a:rPr sz="3200" dirty="0"/>
              <a:t> </a:t>
            </a:r>
            <a:endParaRPr lang="en-GB" sz="3200" dirty="0"/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/>
              <a:t>Web &amp; App Support: </a:t>
            </a:r>
            <a:r>
              <a:rPr sz="3200" dirty="0" err="1"/>
              <a:t>Integriert</a:t>
            </a:r>
            <a:r>
              <a:rPr sz="3200" dirty="0"/>
              <a:t> in </a:t>
            </a:r>
            <a:r>
              <a:rPr lang="de-AT" sz="3200" dirty="0"/>
              <a:t>Electron-Desktop/</a:t>
            </a:r>
            <a:r>
              <a:rPr sz="3200" dirty="0"/>
              <a:t>Websites </a:t>
            </a:r>
            <a:r>
              <a:rPr sz="3200" dirty="0" err="1"/>
              <a:t>über</a:t>
            </a:r>
            <a:r>
              <a:rPr sz="3200" dirty="0"/>
              <a:t> die JavaScript ONNX Runtime API</a:t>
            </a:r>
            <a:r>
              <a:rPr lang="en-GB" sz="3200" dirty="0"/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/>
              <a:t>Mobile &amp; Edge: </a:t>
            </a:r>
            <a:r>
              <a:rPr sz="3200" dirty="0" err="1"/>
              <a:t>Ausführung</a:t>
            </a:r>
            <a:r>
              <a:rPr sz="3200" dirty="0"/>
              <a:t> </a:t>
            </a:r>
            <a:r>
              <a:rPr sz="3200" dirty="0" err="1"/>
              <a:t>direkt</a:t>
            </a:r>
            <a:r>
              <a:rPr sz="3200" dirty="0"/>
              <a:t> auf </a:t>
            </a:r>
            <a:r>
              <a:rPr lang="de-AT" sz="3200" dirty="0"/>
              <a:t>iOS/Android</a:t>
            </a:r>
            <a:r>
              <a:rPr sz="3200" dirty="0"/>
              <a:t>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b="1" dirty="0" err="1"/>
              <a:t>Latenz</a:t>
            </a:r>
            <a:r>
              <a:rPr b="1" dirty="0"/>
              <a:t>- und </a:t>
            </a:r>
            <a:r>
              <a:rPr lang="en-GB" b="1" dirty="0" err="1"/>
              <a:t>Effizients</a:t>
            </a:r>
            <a:r>
              <a:rPr b="1" dirty="0"/>
              <a:t>-</a:t>
            </a:r>
            <a:r>
              <a:rPr b="1" dirty="0" err="1"/>
              <a:t>Vorteil</a:t>
            </a:r>
            <a:r>
              <a:rPr b="1" dirty="0"/>
              <a:t>: </a:t>
            </a:r>
            <a:r>
              <a:rPr sz="3200" dirty="0"/>
              <a:t>Bis </a:t>
            </a:r>
            <a:r>
              <a:rPr sz="3200" dirty="0" err="1"/>
              <a:t>zu</a:t>
            </a:r>
            <a:r>
              <a:rPr sz="3200" dirty="0"/>
              <a:t> 50% </a:t>
            </a:r>
            <a:r>
              <a:rPr sz="3200" dirty="0" err="1"/>
              <a:t>geringerer</a:t>
            </a:r>
            <a:r>
              <a:rPr sz="3200" dirty="0"/>
              <a:t> RAM- und CPU-</a:t>
            </a:r>
            <a:r>
              <a:rPr sz="3200" dirty="0" err="1"/>
              <a:t>Verbrauch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Praktische</a:t>
            </a:r>
            <a:r>
              <a:rPr dirty="0"/>
              <a:t> Demo: WebApp Showcase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9488" y="1956867"/>
            <a:ext cx="18145570" cy="806489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3600" b="1" dirty="0"/>
              <a:t>Frontend:</a:t>
            </a:r>
            <a:endParaRPr lang="de-AT" sz="3200" b="1" dirty="0"/>
          </a:p>
          <a:p>
            <a:pPr>
              <a:lnSpc>
                <a:spcPct val="150000"/>
              </a:lnSpc>
            </a:pPr>
            <a:r>
              <a:rPr lang="de-AT" sz="2800" dirty="0"/>
              <a:t>Wurde zusätzlich implementiert, da das PyTorch-Modell frühzeitig stabil lief.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 - Desktop App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 - Web App (Mobile &amp; Desktop)</a:t>
            </a:r>
          </a:p>
          <a:p>
            <a:pPr>
              <a:lnSpc>
                <a:spcPct val="150000"/>
              </a:lnSpc>
            </a:pPr>
            <a:endParaRPr sz="2800" dirty="0"/>
          </a:p>
          <a:p>
            <a:pPr>
              <a:lnSpc>
                <a:spcPct val="150000"/>
              </a:lnSpc>
            </a:pPr>
            <a:r>
              <a:rPr sz="3600" b="1" dirty="0" err="1"/>
              <a:t>Aufnahmemodi</a:t>
            </a:r>
            <a:r>
              <a:rPr sz="3600" b="1" dirty="0"/>
              <a:t>:</a:t>
            </a:r>
          </a:p>
          <a:p>
            <a:pPr>
              <a:lnSpc>
                <a:spcPct val="150000"/>
              </a:lnSpc>
            </a:pPr>
            <a:r>
              <a:rPr sz="2800" dirty="0"/>
              <a:t>  - Normal Mode: Click-and-Hold Button, </a:t>
            </a:r>
            <a:r>
              <a:rPr sz="2800" dirty="0" err="1"/>
              <a:t>nimmt</a:t>
            </a:r>
            <a:r>
              <a:rPr sz="2800" dirty="0"/>
              <a:t> </a:t>
            </a:r>
            <a:r>
              <a:rPr sz="2800" dirty="0" err="1"/>
              <a:t>exakt</a:t>
            </a:r>
            <a:r>
              <a:rPr sz="2800" dirty="0"/>
              <a:t> 1 </a:t>
            </a:r>
            <a:r>
              <a:rPr sz="2800" dirty="0" err="1"/>
              <a:t>Sekunde</a:t>
            </a:r>
            <a:r>
              <a:rPr sz="2800" dirty="0"/>
              <a:t> Audio auf.</a:t>
            </a:r>
          </a:p>
          <a:p>
            <a:pPr>
              <a:lnSpc>
                <a:spcPct val="150000"/>
              </a:lnSpc>
            </a:pPr>
            <a:r>
              <a:rPr sz="2800" dirty="0"/>
              <a:t>  - Live Mode: </a:t>
            </a:r>
            <a:r>
              <a:rPr sz="2800" dirty="0" err="1"/>
              <a:t>Kontinuierliches</a:t>
            </a:r>
            <a:r>
              <a:rPr sz="2800" dirty="0"/>
              <a:t> Audio-Streaming in </a:t>
            </a:r>
            <a:r>
              <a:rPr sz="2800" dirty="0" err="1"/>
              <a:t>einen</a:t>
            </a:r>
            <a:r>
              <a:rPr sz="2800" dirty="0"/>
              <a:t> 1s-Ringpuffer. Ein </a:t>
            </a:r>
            <a:r>
              <a:rPr sz="2800" dirty="0" err="1"/>
              <a:t>gleitendes</a:t>
            </a:r>
            <a:r>
              <a:rPr sz="2800" dirty="0"/>
              <a:t> Fenster </a:t>
            </a:r>
            <a:r>
              <a:rPr sz="2800" dirty="0" err="1"/>
              <a:t>sendet</a:t>
            </a:r>
            <a:r>
              <a:rPr sz="2800" dirty="0"/>
              <a:t> alle </a:t>
            </a:r>
            <a:r>
              <a:rPr lang="en-GB" sz="2800" dirty="0"/>
              <a:t>X </a:t>
            </a:r>
            <a:r>
              <a:rPr sz="2800" dirty="0" err="1"/>
              <a:t>ms</a:t>
            </a:r>
            <a:r>
              <a:rPr sz="2800" dirty="0"/>
              <a:t> </a:t>
            </a:r>
            <a:r>
              <a:rPr sz="2800" dirty="0" err="1"/>
              <a:t>Daten</a:t>
            </a:r>
            <a:r>
              <a:rPr sz="2800" dirty="0"/>
              <a:t> </a:t>
            </a:r>
            <a:r>
              <a:rPr sz="2800" dirty="0" err="1"/>
              <a:t>zur</a:t>
            </a:r>
            <a:r>
              <a:rPr sz="2800" dirty="0"/>
              <a:t> </a:t>
            </a:r>
            <a:r>
              <a:rPr sz="2800" dirty="0" err="1"/>
              <a:t>Auswertung</a:t>
            </a:r>
            <a:r>
              <a:rPr lang="en-GB" sz="2800" dirty="0"/>
              <a:t> (X </a:t>
            </a:r>
            <a:r>
              <a:rPr lang="en-GB" sz="2800" dirty="0" err="1"/>
              <a:t>ist</a:t>
            </a:r>
            <a:r>
              <a:rPr lang="en-GB" sz="2800" dirty="0"/>
              <a:t> variable)</a:t>
            </a:r>
            <a:r>
              <a:rPr sz="2800" dirty="0"/>
              <a:t>.</a:t>
            </a:r>
            <a:endParaRPr lang="en-GB" sz="2800" dirty="0"/>
          </a:p>
          <a:p>
            <a:pPr>
              <a:lnSpc>
                <a:spcPct val="150000"/>
              </a:lnSpc>
            </a:pPr>
            <a:endParaRPr sz="2800" dirty="0"/>
          </a:p>
          <a:p>
            <a:pPr>
              <a:lnSpc>
                <a:spcPct val="150000"/>
              </a:lnSpc>
            </a:pPr>
            <a:r>
              <a:rPr sz="3600" b="1" dirty="0" err="1"/>
              <a:t>Echtzeit-Visualisierungen</a:t>
            </a:r>
            <a:r>
              <a:rPr lang="en-GB" sz="3600" b="1" dirty="0"/>
              <a:t>: </a:t>
            </a:r>
          </a:p>
          <a:p>
            <a:pPr>
              <a:lnSpc>
                <a:spcPct val="150000"/>
              </a:lnSpc>
            </a:pPr>
            <a:r>
              <a:rPr sz="2800" dirty="0" err="1"/>
              <a:t>Oszilloskop</a:t>
            </a:r>
            <a:r>
              <a:rPr sz="2800" dirty="0"/>
              <a:t> (</a:t>
            </a:r>
            <a:r>
              <a:rPr sz="2800" dirty="0" err="1"/>
              <a:t>Zeitbereich</a:t>
            </a:r>
            <a:r>
              <a:rPr sz="2800" dirty="0"/>
              <a:t>), Spectrogram (</a:t>
            </a:r>
            <a:r>
              <a:rPr sz="2800" dirty="0" err="1"/>
              <a:t>Frequenzbereich</a:t>
            </a:r>
            <a:r>
              <a:rPr sz="2800" dirty="0"/>
              <a:t>) und Detections Timeline.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WebApp Showcase: Voice Arcade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sz="3600" b="1" dirty="0"/>
              <a:t>Voice Arcade:</a:t>
            </a:r>
            <a:endParaRPr lang="en-GB" sz="3600" b="1" dirty="0"/>
          </a:p>
          <a:p>
            <a:pPr>
              <a:lnSpc>
                <a:spcPct val="150000"/>
              </a:lnSpc>
            </a:pPr>
            <a:r>
              <a:rPr sz="2800" dirty="0" err="1"/>
              <a:t>Fünf</a:t>
            </a:r>
            <a:r>
              <a:rPr sz="2800" dirty="0"/>
              <a:t> </a:t>
            </a:r>
            <a:r>
              <a:rPr sz="2800" dirty="0" err="1"/>
              <a:t>integrierte</a:t>
            </a:r>
            <a:r>
              <a:rPr sz="2800" dirty="0"/>
              <a:t> HTML5 Canvas-</a:t>
            </a:r>
            <a:r>
              <a:rPr sz="2800" dirty="0" err="1"/>
              <a:t>Spiele</a:t>
            </a:r>
            <a:r>
              <a:rPr sz="2800" dirty="0"/>
              <a:t>, die </a:t>
            </a:r>
            <a:r>
              <a:rPr sz="2800" dirty="0" err="1"/>
              <a:t>ausschließlich</a:t>
            </a:r>
            <a:r>
              <a:rPr sz="2800" dirty="0"/>
              <a:t> per </a:t>
            </a:r>
            <a:r>
              <a:rPr sz="2800" dirty="0" err="1"/>
              <a:t>Sprachbefehl</a:t>
            </a:r>
            <a:r>
              <a:rPr sz="2800" dirty="0"/>
              <a:t> </a:t>
            </a:r>
            <a:r>
              <a:rPr sz="2800" dirty="0" err="1"/>
              <a:t>gesteuert</a:t>
            </a:r>
            <a:r>
              <a:rPr sz="2800" dirty="0"/>
              <a:t> </a:t>
            </a:r>
            <a:r>
              <a:rPr sz="2800" dirty="0" err="1"/>
              <a:t>werden</a:t>
            </a:r>
            <a:r>
              <a:rPr sz="2800" dirty="0"/>
              <a:t>:</a:t>
            </a:r>
          </a:p>
          <a:p>
            <a:pPr>
              <a:lnSpc>
                <a:spcPct val="150000"/>
              </a:lnSpc>
            </a:pPr>
            <a:r>
              <a:rPr sz="2800" dirty="0"/>
              <a:t>  - Flappy Bird (UP), Grid Runner (UP/DOWN/YES/NO), Space Defender (YES/NO/UP/DOWN), Simon Memory, Cyber Hi-Lo.</a:t>
            </a:r>
            <a:endParaRPr lang="en-GB" sz="2800" dirty="0"/>
          </a:p>
          <a:p>
            <a:pPr>
              <a:lnSpc>
                <a:spcPct val="150000"/>
              </a:lnSpc>
            </a:pPr>
            <a:endParaRPr sz="2800" dirty="0"/>
          </a:p>
          <a:p>
            <a:pPr>
              <a:lnSpc>
                <a:spcPct val="150000"/>
              </a:lnSpc>
            </a:pPr>
            <a:r>
              <a:rPr sz="3600" b="1" dirty="0" err="1"/>
              <a:t>Latenz-Kompensation</a:t>
            </a:r>
            <a:r>
              <a:rPr sz="3600" b="1" dirty="0"/>
              <a:t>: </a:t>
            </a:r>
            <a:endParaRPr lang="en-GB" sz="3600" b="1" dirty="0"/>
          </a:p>
          <a:p>
            <a:pPr>
              <a:lnSpc>
                <a:spcPct val="150000"/>
              </a:lnSpc>
            </a:pPr>
            <a:r>
              <a:rPr sz="2800" dirty="0" err="1"/>
              <a:t>Spielgeschwindigkeit</a:t>
            </a:r>
            <a:r>
              <a:rPr sz="2800" dirty="0"/>
              <a:t> </a:t>
            </a:r>
            <a:r>
              <a:rPr sz="2800" dirty="0" err="1"/>
              <a:t>lässt</a:t>
            </a:r>
            <a:r>
              <a:rPr sz="2800" dirty="0"/>
              <a:t> </a:t>
            </a:r>
            <a:r>
              <a:rPr sz="2800" dirty="0" err="1"/>
              <a:t>sich</a:t>
            </a:r>
            <a:r>
              <a:rPr sz="2800" dirty="0"/>
              <a:t> </a:t>
            </a:r>
            <a:r>
              <a:rPr sz="2800" dirty="0" err="1"/>
              <a:t>über</a:t>
            </a:r>
            <a:r>
              <a:rPr sz="2800" dirty="0"/>
              <a:t> </a:t>
            </a:r>
            <a:r>
              <a:rPr sz="2800" dirty="0" err="1"/>
              <a:t>einen</a:t>
            </a:r>
            <a:r>
              <a:rPr sz="2800" dirty="0"/>
              <a:t> Regler </a:t>
            </a:r>
            <a:r>
              <a:rPr sz="2800" dirty="0" err="1"/>
              <a:t>verlangsamen</a:t>
            </a:r>
            <a:r>
              <a:rPr sz="2800" dirty="0"/>
              <a:t> um die </a:t>
            </a:r>
            <a:r>
              <a:rPr sz="2800" dirty="0" err="1"/>
              <a:t>Verarbeitungsverzögerung</a:t>
            </a:r>
            <a:r>
              <a:rPr sz="2800" dirty="0"/>
              <a:t> der </a:t>
            </a:r>
            <a:r>
              <a:rPr sz="2800" dirty="0" err="1"/>
              <a:t>Befehle</a:t>
            </a:r>
            <a:r>
              <a:rPr sz="2800" dirty="0"/>
              <a:t> </a:t>
            </a:r>
            <a:r>
              <a:rPr sz="2800" dirty="0" err="1"/>
              <a:t>spielerisch</a:t>
            </a:r>
            <a:r>
              <a:rPr sz="2800" dirty="0"/>
              <a:t> </a:t>
            </a:r>
            <a:r>
              <a:rPr sz="2800" dirty="0" err="1"/>
              <a:t>auszugleichen</a:t>
            </a:r>
            <a:r>
              <a:rPr sz="28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Live Demo &amp; </a:t>
            </a:r>
            <a:r>
              <a:rPr dirty="0" err="1"/>
              <a:t>Vielen</a:t>
            </a:r>
            <a:r>
              <a:rPr dirty="0"/>
              <a:t> Dank!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5119" y="6565379"/>
            <a:ext cx="17749578" cy="3337024"/>
          </a:xfrm>
        </p:spPr>
        <p:txBody>
          <a:bodyPr/>
          <a:lstStyle/>
          <a:p>
            <a:r>
              <a:rPr dirty="0"/>
              <a:t>Mathias Kornschober</a:t>
            </a:r>
          </a:p>
          <a:p>
            <a:r>
              <a:rPr dirty="0"/>
              <a:t>Projekt-Repository: github.com/</a:t>
            </a:r>
            <a:r>
              <a:rPr dirty="0" err="1"/>
              <a:t>KOFiblto</a:t>
            </a:r>
            <a:r>
              <a:rPr dirty="0"/>
              <a:t>/</a:t>
            </a:r>
            <a:r>
              <a:rPr dirty="0" err="1"/>
              <a:t>KeywordDetection</a:t>
            </a:r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KTRONIK &amp; TECHN. INFORMATI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-Präsentation-VorlageV2" id="{83A356B3-B7A0-8246-9EE1-AD78BE177505}" vid="{77382666-4CCC-DF44-BDEA-09724A98764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1203</Words>
  <Application>Microsoft Office PowerPoint</Application>
  <PresentationFormat>Custom</PresentationFormat>
  <Paragraphs>147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Helvetica</vt:lpstr>
      <vt:lpstr>Times New Roman</vt:lpstr>
      <vt:lpstr>ELEKTRONIK &amp; TECHN. INFORMATIK</vt:lpstr>
      <vt:lpstr>Keyword Detection</vt:lpstr>
      <vt:lpstr>Einleitung - Big Picture</vt:lpstr>
      <vt:lpstr>Was wurde erreicht / nicht erreicht?</vt:lpstr>
      <vt:lpstr>Grundlagen: Log-Mel Spektrogramme</vt:lpstr>
      <vt:lpstr>Do's &amp; Don'ts bei Audio-Deep-Learning</vt:lpstr>
      <vt:lpstr>Modell-Optimierung (Läufe 1-7)</vt:lpstr>
      <vt:lpstr>Problem 1: I/O-Bottlenecks beim Laden</vt:lpstr>
      <vt:lpstr>Problem 2: Klassen-Ungleichgewicht</vt:lpstr>
      <vt:lpstr>Problem 3: False Triggers in Echtzeit-Umgebungen</vt:lpstr>
      <vt:lpstr>Auswertung: Systematische Fehleranalyse</vt:lpstr>
      <vt:lpstr>ONNX - Open Neural Network Exchange</vt:lpstr>
      <vt:lpstr>Praktische Demo: WebApp Showcase</vt:lpstr>
      <vt:lpstr>WebApp Showcase: Voice Arcade</vt:lpstr>
      <vt:lpstr>Live Demo &amp; Vielen Dank!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Rudolf Schamberger</dc:creator>
  <cp:lastModifiedBy>Mathias Kornschober</cp:lastModifiedBy>
  <cp:revision>110</cp:revision>
  <dcterms:created xsi:type="dcterms:W3CDTF">2025-12-10T09:04:11Z</dcterms:created>
  <dcterms:modified xsi:type="dcterms:W3CDTF">2026-06-09T07:07:51Z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2023-11-09T00:00:00Z</vt:filetime>
  </property>
  <property fmtid="{D5CDD505-2E9C-101B-9397-08002B2CF9AE}" pid="5" name="Producer">
    <vt:lpwstr>Adobe PDF Library 17.0</vt:lpwstr>
  </property>
</Properties>
</file>